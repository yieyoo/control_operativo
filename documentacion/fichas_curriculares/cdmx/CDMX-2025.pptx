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9144000" cy="6858000" type="letter"/>
  <p:notesSz cx="7023100" cy="93091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125" d="100"/>
          <a:sy n="125" d="100"/>
        </p:scale>
        <p:origin x="6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43981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75148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39801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33373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17/06/2025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37210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17/06/2025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19194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17/06/2025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35190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21379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39529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4832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958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4CB750-BDA0-4B3C-9407-BAF21E562682}" type="datetimeFigureOut">
              <a:rPr lang="es-MX" smtClean="0"/>
              <a:t>17/06/2025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5072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alonso@inami.gob.mx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D0722D44-FDBC-4129-AFBD-ABF5B06044DA}"/>
              </a:ext>
            </a:extLst>
          </p:cNvPr>
          <p:cNvGrpSpPr/>
          <p:nvPr/>
        </p:nvGrpSpPr>
        <p:grpSpPr>
          <a:xfrm>
            <a:off x="226419" y="278296"/>
            <a:ext cx="2242145" cy="6347791"/>
            <a:chOff x="440430" y="261026"/>
            <a:chExt cx="2381885" cy="8621948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50120CE6-BCC7-4F9B-8F8B-947245FEDD2E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0430" y="261026"/>
              <a:ext cx="2381885" cy="4332212"/>
            </a:xfrm>
            <a:prstGeom prst="rect">
              <a:avLst/>
            </a:prstGeom>
          </p:spPr>
        </p:pic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8D408511-F0FC-4365-AA24-3F55CAC94EDA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0430" y="4550762"/>
              <a:ext cx="2381885" cy="4332212"/>
            </a:xfrm>
            <a:prstGeom prst="rect">
              <a:avLst/>
            </a:prstGeom>
          </p:spPr>
        </p:pic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C39B6A8-850A-41A7-BC05-141D0CCF0BCC}"/>
              </a:ext>
            </a:extLst>
          </p:cNvPr>
          <p:cNvSpPr txBox="1"/>
          <p:nvPr/>
        </p:nvSpPr>
        <p:spPr>
          <a:xfrm>
            <a:off x="226418" y="2999176"/>
            <a:ext cx="2227440" cy="1220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s-MX" sz="1000" b="1" dirty="0">
                <a:solidFill>
                  <a:schemeClr val="bg1"/>
                </a:solidFill>
                <a:latin typeface="Montserrat" pitchFamily="2" charset="0"/>
              </a:rPr>
              <a:t>Formación</a:t>
            </a:r>
          </a:p>
          <a:p>
            <a:pPr algn="ctr">
              <a:lnSpc>
                <a:spcPct val="150000"/>
              </a:lnSpc>
              <a:defRPr/>
            </a:pPr>
            <a:r>
              <a:rPr lang="es-MX" sz="1000" b="1" dirty="0">
                <a:solidFill>
                  <a:schemeClr val="bg1"/>
                </a:solidFill>
                <a:latin typeface="Montserrat" pitchFamily="2" charset="0"/>
              </a:rPr>
              <a:t>Académica</a:t>
            </a:r>
          </a:p>
          <a:p>
            <a:pPr marL="96441" indent="-9644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s-MX" sz="1000" b="1" dirty="0">
              <a:solidFill>
                <a:schemeClr val="bg1"/>
              </a:solidFill>
              <a:latin typeface="Montserrat" pitchFamily="2" charset="0"/>
            </a:endParaRPr>
          </a:p>
          <a:p>
            <a:pPr marL="96441" indent="-9644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s-MX" sz="1000" b="1" dirty="0">
                <a:solidFill>
                  <a:schemeClr val="bg1"/>
                </a:solidFill>
                <a:latin typeface="Montserrat" pitchFamily="2" charset="0"/>
              </a:rPr>
              <a:t>Licenciatura </a:t>
            </a:r>
            <a:r>
              <a:rPr lang="es-MX" sz="1000" dirty="0">
                <a:solidFill>
                  <a:schemeClr val="bg1"/>
                </a:solidFill>
                <a:latin typeface="Montserrat" pitchFamily="2" charset="0"/>
              </a:rPr>
              <a:t>en Derecho.</a:t>
            </a:r>
          </a:p>
          <a:p>
            <a:pPr marL="96441" indent="-9644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s-MX" sz="1000" b="1" dirty="0">
                <a:solidFill>
                  <a:schemeClr val="bg1"/>
                </a:solidFill>
                <a:latin typeface="Montserrat" pitchFamily="2" charset="0"/>
              </a:rPr>
              <a:t>Especialidad</a:t>
            </a:r>
            <a:r>
              <a:rPr lang="es-MX" sz="1000" dirty="0">
                <a:solidFill>
                  <a:schemeClr val="bg1"/>
                </a:solidFill>
                <a:latin typeface="Montserrat" pitchFamily="2" charset="0"/>
              </a:rPr>
              <a:t> en Poligrafía.</a:t>
            </a:r>
            <a:endParaRPr lang="es-MX" sz="10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DC4B574-C21F-433D-9C03-EC1981764D48}"/>
              </a:ext>
            </a:extLst>
          </p:cNvPr>
          <p:cNvSpPr txBox="1"/>
          <p:nvPr/>
        </p:nvSpPr>
        <p:spPr>
          <a:xfrm>
            <a:off x="230076" y="4642425"/>
            <a:ext cx="2250285" cy="1682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s-MX" sz="1000" b="1" dirty="0">
                <a:solidFill>
                  <a:schemeClr val="bg1"/>
                </a:solidFill>
                <a:latin typeface="Montserrat" pitchFamily="2" charset="0"/>
              </a:rPr>
              <a:t>Información de Contacto</a:t>
            </a:r>
          </a:p>
          <a:p>
            <a:pPr algn="ctr">
              <a:lnSpc>
                <a:spcPct val="150000"/>
              </a:lnSpc>
              <a:defRPr/>
            </a:pPr>
            <a:endParaRPr lang="es-MX" sz="1000" b="1" dirty="0">
              <a:solidFill>
                <a:schemeClr val="bg1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MX" sz="1000" b="1" dirty="0">
                <a:solidFill>
                  <a:schemeClr val="bg1"/>
                </a:solidFill>
                <a:latin typeface="Montserrat" pitchFamily="2" charset="0"/>
                <a:sym typeface="Wingdings 2"/>
              </a:rPr>
              <a:t> </a:t>
            </a:r>
            <a:r>
              <a:rPr lang="es-MX" sz="1000" b="1" dirty="0">
                <a:solidFill>
                  <a:schemeClr val="bg1"/>
                </a:solidFill>
                <a:latin typeface="Montserrat" pitchFamily="2" charset="0"/>
                <a:sym typeface="Wingdings"/>
              </a:rPr>
              <a:t>Personal: </a:t>
            </a:r>
            <a:r>
              <a:rPr lang="es-MX" sz="1000" dirty="0">
                <a:solidFill>
                  <a:schemeClr val="bg1"/>
                </a:solidFill>
                <a:latin typeface="Montserrat" pitchFamily="2" charset="0"/>
                <a:sym typeface="Wingdings"/>
              </a:rPr>
              <a:t>5641647043</a:t>
            </a:r>
          </a:p>
          <a:p>
            <a:pPr marL="96441" indent="-96441" algn="just">
              <a:lnSpc>
                <a:spcPct val="150000"/>
              </a:lnSpc>
              <a:buFont typeface="Wingdings" pitchFamily="2" charset="2"/>
              <a:buChar char="("/>
            </a:pPr>
            <a:r>
              <a:rPr lang="es-MX" sz="1000" b="1" dirty="0">
                <a:solidFill>
                  <a:schemeClr val="bg1"/>
                </a:solidFill>
                <a:latin typeface="Montserrat" pitchFamily="2" charset="0"/>
                <a:sym typeface="Wingdings"/>
              </a:rPr>
              <a:t>Trabajo: </a:t>
            </a:r>
            <a:r>
              <a:rPr lang="es-MX" sz="1000" dirty="0">
                <a:solidFill>
                  <a:schemeClr val="bg1"/>
                </a:solidFill>
                <a:latin typeface="Montserrat" pitchFamily="2" charset="0"/>
                <a:sym typeface="Wingdings"/>
              </a:rPr>
              <a:t>25810100</a:t>
            </a:r>
          </a:p>
          <a:p>
            <a:pPr marL="96441" indent="-96441" algn="just">
              <a:lnSpc>
                <a:spcPct val="150000"/>
              </a:lnSpc>
              <a:buFont typeface="Wingdings" pitchFamily="2" charset="2"/>
              <a:buChar char="("/>
            </a:pPr>
            <a:r>
              <a:rPr lang="es-MX" sz="1000" dirty="0">
                <a:solidFill>
                  <a:schemeClr val="bg1"/>
                </a:solidFill>
                <a:latin typeface="Montserrat" pitchFamily="2" charset="0"/>
                <a:sym typeface="Wingdings"/>
              </a:rPr>
              <a:t>ext. 32052</a:t>
            </a:r>
          </a:p>
          <a:p>
            <a:pPr marL="96441" indent="-96441" algn="just">
              <a:lnSpc>
                <a:spcPct val="150000"/>
              </a:lnSpc>
              <a:buFont typeface="Wingdings" pitchFamily="2" charset="2"/>
              <a:buChar char="*"/>
            </a:pPr>
            <a:r>
              <a:rPr lang="es-MX" sz="1000" b="1" dirty="0">
                <a:solidFill>
                  <a:schemeClr val="bg1"/>
                </a:solidFill>
                <a:latin typeface="Montserrat" pitchFamily="2" charset="0"/>
                <a:sym typeface="Wingdings"/>
              </a:rPr>
              <a:t>Institucional:</a:t>
            </a:r>
          </a:p>
          <a:p>
            <a:pPr algn="just">
              <a:lnSpc>
                <a:spcPct val="150000"/>
              </a:lnSpc>
            </a:pPr>
            <a:r>
              <a:rPr lang="es-MX" sz="1000" b="1" dirty="0">
                <a:solidFill>
                  <a:schemeClr val="bg1"/>
                </a:solidFill>
                <a:latin typeface="Montserrat" pitchFamily="2" charset="0"/>
                <a:sym typeface="Wingding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jmagana@inami.gob.mx</a:t>
            </a:r>
            <a:r>
              <a:rPr lang="es-MX" sz="1000" b="1" dirty="0">
                <a:solidFill>
                  <a:schemeClr val="bg1"/>
                </a:solidFill>
                <a:latin typeface="Montserrat" pitchFamily="2" charset="0"/>
                <a:sym typeface="Wingdings"/>
              </a:rPr>
              <a:t> 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03AE3FB-BBBB-4780-BEA0-348ED633AEF9}"/>
              </a:ext>
            </a:extLst>
          </p:cNvPr>
          <p:cNvSpPr txBox="1"/>
          <p:nvPr/>
        </p:nvSpPr>
        <p:spPr>
          <a:xfrm>
            <a:off x="2584174" y="848330"/>
            <a:ext cx="6566387" cy="5513945"/>
          </a:xfrm>
          <a:prstGeom prst="rect">
            <a:avLst/>
          </a:prstGeom>
          <a:noFill/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sz="2000" b="1" dirty="0">
                <a:solidFill>
                  <a:srgbClr val="DEC9A7"/>
                </a:solidFill>
                <a:latin typeface="Montserrat" pitchFamily="2" charset="0"/>
              </a:rPr>
              <a:t>TRAYECTORIA INM</a:t>
            </a:r>
            <a:endParaRPr lang="es-MX" sz="1000" b="1" dirty="0">
              <a:solidFill>
                <a:srgbClr val="DEC9A7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Año de ingreso al INM: 2019</a:t>
            </a:r>
          </a:p>
          <a:p>
            <a:pPr marL="96441" indent="-9644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Oficina de Representación en la Ciudad de México.</a:t>
            </a:r>
          </a:p>
          <a:p>
            <a:pPr algn="just">
              <a:lnSpc>
                <a:spcPct val="150000"/>
              </a:lnSpc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     16/06/2025- a la fecha:  </a:t>
            </a: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Titular de la Oficina de Representación.</a:t>
            </a:r>
            <a:endParaRPr lang="es-MX" sz="1000" b="1" dirty="0">
              <a:solidFill>
                <a:srgbClr val="660033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     01/06/2025- 15/06/2025: </a:t>
            </a: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Encargado de la Oficina de Representación.</a:t>
            </a:r>
          </a:p>
          <a:p>
            <a:pPr marL="96441" indent="-9644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Secretario Particular del Comisionado.</a:t>
            </a:r>
          </a:p>
          <a:p>
            <a:pPr algn="just">
              <a:lnSpc>
                <a:spcPct val="150000"/>
              </a:lnSpc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     01/07/2019- 30/04/2025.</a:t>
            </a:r>
            <a:endParaRPr lang="es-MX" sz="700" b="1" dirty="0">
              <a:solidFill>
                <a:srgbClr val="DEC9A7"/>
              </a:solidFill>
              <a:latin typeface="Montserrat" pitchFamily="2" charset="0"/>
            </a:endParaRPr>
          </a:p>
          <a:p>
            <a:pPr>
              <a:lnSpc>
                <a:spcPct val="150000"/>
              </a:lnSpc>
            </a:pPr>
            <a:r>
              <a:rPr lang="es-MX" sz="2000" b="1" dirty="0">
                <a:solidFill>
                  <a:srgbClr val="DEC9A7"/>
                </a:solidFill>
                <a:latin typeface="Montserrat" pitchFamily="2" charset="0"/>
              </a:rPr>
              <a:t>CARRERA PROFESIONAL</a:t>
            </a:r>
            <a:endParaRPr lang="es-MX" sz="800" b="1" dirty="0">
              <a:solidFill>
                <a:srgbClr val="DEC9A7"/>
              </a:solidFill>
              <a:latin typeface="Montserrat" pitchFamily="2" charset="0"/>
            </a:endParaRPr>
          </a:p>
          <a:p>
            <a:pPr>
              <a:lnSpc>
                <a:spcPct val="150000"/>
              </a:lnSpc>
            </a:pPr>
            <a:endParaRPr lang="es-MX" sz="600" b="1" dirty="0">
              <a:solidFill>
                <a:srgbClr val="DEC9A7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Cuenta con una amplia experiencia de más de 18 años en la Administración Pública, ocupando los siguientes cargos:</a:t>
            </a:r>
          </a:p>
          <a:p>
            <a:pPr marL="96441" indent="-9644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Centros Federales de Readaptación Social: </a:t>
            </a: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Secretario Particular del Coordinador General.</a:t>
            </a:r>
          </a:p>
          <a:p>
            <a:pPr marL="96441" indent="-9644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Gobierno del Estado de Quintana Roo: </a:t>
            </a: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Director de Giras Zona Norte, Ejecutivo Estatal.</a:t>
            </a:r>
          </a:p>
          <a:p>
            <a:pPr marL="96441" indent="-9644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Estado Mayor Presidencial (EMP): </a:t>
            </a: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Coordinador de Seguridad en Secretaría Particular.</a:t>
            </a:r>
          </a:p>
          <a:p>
            <a:pPr marL="96441" indent="-9644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Unidad de Seguridad y Confianza del Estado Mayor Presidencial: </a:t>
            </a: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Evaluador </a:t>
            </a:r>
            <a:r>
              <a:rPr lang="es-MX" sz="1000" dirty="0" err="1">
                <a:solidFill>
                  <a:srgbClr val="660033"/>
                </a:solidFill>
                <a:latin typeface="Montserrat" pitchFamily="2" charset="0"/>
              </a:rPr>
              <a:t>Poligrafista</a:t>
            </a: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 y Jefe de Poligrafía.</a:t>
            </a:r>
          </a:p>
          <a:p>
            <a:pPr marL="96441" indent="-9644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S- 3 del Estado Mayor Presidencial (EMP): </a:t>
            </a: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Oficial de Protocolo.</a:t>
            </a:r>
          </a:p>
          <a:p>
            <a:pPr marL="96441" indent="-9644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Estado Mayor Presidencial (EMP): </a:t>
            </a: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Ayudante Militar del Presidente de la República.</a:t>
            </a:r>
          </a:p>
          <a:p>
            <a:pPr marL="96441" indent="-9644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S- 2 del Estado Mayor Presidencial (EMP): </a:t>
            </a: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Oficial de Búsqueda y Análisis de Información.</a:t>
            </a:r>
          </a:p>
          <a:p>
            <a:pPr marL="96441" indent="-9644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Ejercito Mexicano Unidades en que prestó servicios:</a:t>
            </a: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 5/o. Regimiento de Artillería, 1/</a:t>
            </a:r>
            <a:r>
              <a:rPr lang="es-MX" sz="1000" dirty="0" err="1">
                <a:solidFill>
                  <a:srgbClr val="660033"/>
                </a:solidFill>
                <a:latin typeface="Montserrat" pitchFamily="2" charset="0"/>
              </a:rPr>
              <a:t>er</a:t>
            </a: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. Batallón de Transportes del Cuerpo de Guardias Presidenciales, 2/o. Batallón de Policía Militar del Cuerpo de Guardias Presidenciales.</a:t>
            </a:r>
          </a:p>
        </p:txBody>
      </p:sp>
      <p:pic>
        <p:nvPicPr>
          <p:cNvPr id="21" name="0 Imagen">
            <a:extLst>
              <a:ext uri="{FF2B5EF4-FFF2-40B4-BE49-F238E27FC236}">
                <a16:creationId xmlns:a16="http://schemas.microsoft.com/office/drawing/2014/main" id="{4482D245-332C-4A06-9EC6-A0156C6C73D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3" r="39266"/>
          <a:stretch/>
        </p:blipFill>
        <p:spPr>
          <a:xfrm>
            <a:off x="5539027" y="143802"/>
            <a:ext cx="3604973" cy="570045"/>
          </a:xfrm>
          <a:prstGeom prst="rect">
            <a:avLst/>
          </a:prstGeom>
          <a:ln>
            <a:noFill/>
          </a:ln>
        </p:spPr>
      </p:pic>
      <p:grpSp>
        <p:nvGrpSpPr>
          <p:cNvPr id="15" name="11 Grupo">
            <a:extLst>
              <a:ext uri="{FF2B5EF4-FFF2-40B4-BE49-F238E27FC236}">
                <a16:creationId xmlns:a16="http://schemas.microsoft.com/office/drawing/2014/main" id="{89B80883-9276-42EC-83C7-9F0A562429A4}"/>
              </a:ext>
            </a:extLst>
          </p:cNvPr>
          <p:cNvGrpSpPr/>
          <p:nvPr/>
        </p:nvGrpSpPr>
        <p:grpSpPr>
          <a:xfrm>
            <a:off x="226419" y="507824"/>
            <a:ext cx="2227442" cy="2270436"/>
            <a:chOff x="-1889139" y="2285799"/>
            <a:chExt cx="4150951" cy="4036329"/>
          </a:xfrm>
        </p:grpSpPr>
        <p:sp>
          <p:nvSpPr>
            <p:cNvPr id="19" name="8 Rectángulo">
              <a:extLst>
                <a:ext uri="{FF2B5EF4-FFF2-40B4-BE49-F238E27FC236}">
                  <a16:creationId xmlns:a16="http://schemas.microsoft.com/office/drawing/2014/main" id="{8BCF3C3C-9DBC-489C-B684-C4B8EAECA627}"/>
                </a:ext>
              </a:extLst>
            </p:cNvPr>
            <p:cNvSpPr/>
            <p:nvPr/>
          </p:nvSpPr>
          <p:spPr>
            <a:xfrm>
              <a:off x="-1889139" y="2285799"/>
              <a:ext cx="4150951" cy="437726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s-MX" sz="1000" b="1" dirty="0">
                  <a:solidFill>
                    <a:schemeClr val="bg1"/>
                  </a:solidFill>
                  <a:latin typeface="Montserrat" pitchFamily="2" charset="0"/>
                </a:rPr>
                <a:t>CIUDAD DE MÉXICO</a:t>
              </a:r>
              <a:endParaRPr lang="es-MX" sz="1000" dirty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  <p:sp>
          <p:nvSpPr>
            <p:cNvPr id="23" name="10 Rectángulo">
              <a:extLst>
                <a:ext uri="{FF2B5EF4-FFF2-40B4-BE49-F238E27FC236}">
                  <a16:creationId xmlns:a16="http://schemas.microsoft.com/office/drawing/2014/main" id="{891262EE-23D9-406C-85CB-C7837E19B142}"/>
                </a:ext>
              </a:extLst>
            </p:cNvPr>
            <p:cNvSpPr/>
            <p:nvPr/>
          </p:nvSpPr>
          <p:spPr>
            <a:xfrm>
              <a:off x="-1889137" y="5610822"/>
              <a:ext cx="3959893" cy="711306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s-ES" sz="1000" b="1" dirty="0">
                  <a:solidFill>
                    <a:schemeClr val="bg1"/>
                  </a:solidFill>
                  <a:latin typeface="Montserrat" pitchFamily="2" charset="0"/>
                </a:rPr>
                <a:t>JULIO CÉSAR </a:t>
              </a:r>
            </a:p>
            <a:p>
              <a:pPr algn="ctr"/>
              <a:r>
                <a:rPr lang="es-ES" sz="1000" b="1" dirty="0">
                  <a:solidFill>
                    <a:schemeClr val="bg1"/>
                  </a:solidFill>
                  <a:latin typeface="Montserrat" pitchFamily="2" charset="0"/>
                </a:rPr>
                <a:t>MAGAÑA SEGURA</a:t>
              </a:r>
              <a:endParaRPr lang="es-MX" sz="1000" dirty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9D8914A9-87CB-4AC7-848D-85A1662B83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961" y="1127207"/>
            <a:ext cx="1053836" cy="1137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6104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143</TotalTime>
  <Words>257</Words>
  <Application>Microsoft Office PowerPoint</Application>
  <PresentationFormat>Carta (216 x 279 mm)</PresentationFormat>
  <Paragraphs>33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Montserrat</vt:lpstr>
      <vt:lpstr>Wingdings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Jimenez Hernandez, Diego Emilio</dc:creator>
  <cp:lastModifiedBy>Guillermo Jiménez Gómez</cp:lastModifiedBy>
  <cp:revision>27</cp:revision>
  <cp:lastPrinted>2025-06-12T16:40:25Z</cp:lastPrinted>
  <dcterms:created xsi:type="dcterms:W3CDTF">2025-04-24T00:06:49Z</dcterms:created>
  <dcterms:modified xsi:type="dcterms:W3CDTF">2025-06-17T20:03:02Z</dcterms:modified>
</cp:coreProperties>
</file>