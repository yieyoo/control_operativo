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144000" cy="6858000" type="letter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942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190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54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305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240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582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552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761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246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358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3083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667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fgaona@inami.gob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00" r="2539" b="7190"/>
          <a:stretch/>
        </p:blipFill>
        <p:spPr>
          <a:xfrm>
            <a:off x="157758" y="6278916"/>
            <a:ext cx="8986242" cy="637738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184447" y="224685"/>
            <a:ext cx="2161188" cy="6466461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204515" y="2578798"/>
            <a:ext cx="2147740" cy="191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Formación</a:t>
            </a:r>
          </a:p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 Académica</a:t>
            </a:r>
          </a:p>
          <a:p>
            <a:pPr algn="ctr">
              <a:lnSpc>
                <a:spcPct val="150000"/>
              </a:lnSpc>
              <a:defRPr/>
            </a:pPr>
            <a:endParaRPr lang="es-MX" sz="1000" b="1" dirty="0">
              <a:solidFill>
                <a:schemeClr val="bg1"/>
              </a:solidFill>
              <a:latin typeface="Montserrat" pitchFamily="2" charset="0"/>
            </a:endParaRPr>
          </a:p>
          <a:p>
            <a:pPr marL="128588" indent="-12858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b="1" dirty="0">
                <a:solidFill>
                  <a:schemeClr val="bg1"/>
                </a:solidFill>
                <a:latin typeface="Montserrat" pitchFamily="2" charset="0"/>
              </a:rPr>
              <a:t>Estudios de Doctorado</a:t>
            </a:r>
            <a:r>
              <a:rPr lang="es-ES" sz="1000" dirty="0">
                <a:solidFill>
                  <a:schemeClr val="bg1"/>
                </a:solidFill>
                <a:latin typeface="Montserrat" pitchFamily="2" charset="0"/>
              </a:rPr>
              <a:t> en Administración Pública.</a:t>
            </a:r>
          </a:p>
          <a:p>
            <a:pPr marL="128588" indent="-12858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ES" sz="1000" b="1" dirty="0">
                <a:solidFill>
                  <a:schemeClr val="bg1"/>
                </a:solidFill>
                <a:latin typeface="Montserrat" pitchFamily="2" charset="0"/>
              </a:rPr>
              <a:t>Maestría </a:t>
            </a:r>
            <a:r>
              <a:rPr lang="es-ES" sz="1000" dirty="0">
                <a:solidFill>
                  <a:schemeClr val="bg1"/>
                </a:solidFill>
                <a:latin typeface="Montserrat" pitchFamily="2" charset="0"/>
              </a:rPr>
              <a:t>en Ciencias Penales.</a:t>
            </a:r>
          </a:p>
          <a:p>
            <a:pPr marL="128588" indent="-12858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Licenciatura 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en Derecho. </a:t>
            </a:r>
            <a:endParaRPr lang="es-MX" sz="1000" dirty="0">
              <a:solidFill>
                <a:schemeClr val="bg1"/>
              </a:solidFill>
              <a:latin typeface="Montserrat" pitchFamily="2" charset="0"/>
              <a:ea typeface="Calibri"/>
              <a:cs typeface="Times New Roman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204515" y="4757056"/>
            <a:ext cx="2141120" cy="193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050" b="1" dirty="0">
                <a:solidFill>
                  <a:schemeClr val="bg1"/>
                </a:solidFill>
                <a:latin typeface="Montserrat" pitchFamily="2" charset="0"/>
              </a:rPr>
              <a:t>Información de Contacto</a:t>
            </a:r>
          </a:p>
          <a:p>
            <a:pPr algn="ctr">
              <a:lnSpc>
                <a:spcPct val="150000"/>
              </a:lnSpc>
              <a:defRPr/>
            </a:pPr>
            <a:endParaRPr lang="es-MX" sz="1050" b="1" dirty="0">
              <a:solidFill>
                <a:schemeClr val="bg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 2"/>
              </a:rPr>
              <a:t> </a:t>
            </a: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Personal: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8261661241</a:t>
            </a:r>
          </a:p>
          <a:p>
            <a:pPr marL="128588" indent="-128588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3339420290</a:t>
            </a:r>
          </a:p>
          <a:p>
            <a:pPr algn="just">
              <a:lnSpc>
                <a:spcPct val="150000"/>
              </a:lnSpc>
            </a:pP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ext.  8420201</a:t>
            </a:r>
          </a:p>
          <a:p>
            <a:pPr marL="128588" indent="-128588" algn="just">
              <a:lnSpc>
                <a:spcPct val="150000"/>
              </a:lnSpc>
              <a:buFont typeface="Wingdings" pitchFamily="2" charset="2"/>
              <a:buChar char="*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 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fgaona@inami.gob.mx</a:t>
            </a:r>
            <a:endParaRPr lang="es-MX" sz="1000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  <a:p>
            <a:pPr algn="just">
              <a:lnSpc>
                <a:spcPct val="150000"/>
              </a:lnSpc>
            </a:pPr>
            <a:endParaRPr lang="es-MX" sz="1000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372323" y="454312"/>
            <a:ext cx="6771677" cy="6170535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b="1" dirty="0">
                <a:solidFill>
                  <a:srgbClr val="DEC9A7"/>
                </a:solidFill>
                <a:latin typeface="Montserrat" pitchFamily="2" charset="0"/>
              </a:rPr>
              <a:t>TRAYECTORIA INM</a:t>
            </a:r>
          </a:p>
          <a:p>
            <a:pPr algn="just">
              <a:lnSpc>
                <a:spcPct val="150000"/>
              </a:lnSpc>
              <a:defRPr/>
            </a:pPr>
            <a:endParaRPr lang="es-MX" sz="800" b="1" dirty="0">
              <a:solidFill>
                <a:srgbClr val="660033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Año de ingreso al INM: 2019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Jalisco.</a:t>
            </a:r>
          </a:p>
          <a:p>
            <a:pPr marL="135731" indent="-135731"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16/06/2025 - a la fecha: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 Representación.</a:t>
            </a:r>
            <a:endParaRPr lang="es-MX" sz="1000" b="1" dirty="0">
              <a:solidFill>
                <a:srgbClr val="660033"/>
              </a:solidFill>
              <a:latin typeface="Montserrat" pitchFamily="2" charset="0"/>
            </a:endParaRP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Puebla.</a:t>
            </a:r>
          </a:p>
          <a:p>
            <a:pPr marL="135731" indent="-135731"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01/01/2023 – 15/06/2025: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 Representación.</a:t>
            </a:r>
          </a:p>
          <a:p>
            <a:pPr marL="135731" indent="-13573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Tlaxcala.</a:t>
            </a:r>
          </a:p>
          <a:p>
            <a:pPr algn="just">
              <a:lnSpc>
                <a:spcPct val="150000"/>
              </a:lnSpc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16/01/2022 – 31/12/2022: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 Representación.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Puebla.</a:t>
            </a:r>
          </a:p>
          <a:p>
            <a:pPr algn="just">
              <a:lnSpc>
                <a:spcPct val="150000"/>
              </a:lnSpc>
              <a:defRPr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    </a:t>
            </a: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16/06/2019 – 15/01/2022: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Representante Local Zona Norte.</a:t>
            </a:r>
          </a:p>
          <a:p>
            <a:pPr algn="just">
              <a:lnSpc>
                <a:spcPct val="150000"/>
              </a:lnSpc>
            </a:pPr>
            <a:r>
              <a:rPr lang="es-MX" sz="1600" b="1" dirty="0">
                <a:solidFill>
                  <a:srgbClr val="DEC9A7"/>
                </a:solidFill>
                <a:latin typeface="Montserrat" pitchFamily="2" charset="0"/>
              </a:rPr>
              <a:t>CARRERA PROFESIONAL</a:t>
            </a:r>
          </a:p>
          <a:p>
            <a:pPr algn="just">
              <a:lnSpc>
                <a:spcPct val="150000"/>
              </a:lnSpc>
            </a:pPr>
            <a:endParaRPr lang="es-MX" sz="40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Cuenta con más de 15 años de experiencia en la Administración Pública, ocupando los siguientes puestos, entre otros: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Gobierno del Estado de México: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Subdirector de Licencias de Funcionamiento/Subdirector de Movilidad/Director de Apoyo Técnico del Sistema Estatal de Seguridad Pública/Subdirector General de Seguridad Pública y Vialidad;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Secretaría de Agricultura, Ganadería, Desarrollo Rural, Pesca y Alimentación. Apoyos y Servicios a la Comercialización Agropecuaria: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 General de Programación y Evaluación  de Apoyos Directos;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Gobierno del Estado de Tamaulipas: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Subdirector de la Policía Preventiva en Reynosa/Director de Seguridad Pública y Vialidad en Ciudad del Mante;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Entre otros cargos.</a:t>
            </a:r>
          </a:p>
          <a:p>
            <a:pPr>
              <a:lnSpc>
                <a:spcPct val="150000"/>
              </a:lnSpc>
              <a:defRPr/>
            </a:pPr>
            <a:endParaRPr lang="es-MX" sz="1050" dirty="0">
              <a:solidFill>
                <a:srgbClr val="660033"/>
              </a:solidFill>
              <a:latin typeface="Montserrat" pitchFamily="2" charset="0"/>
            </a:endParaRP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4587549" y="12579"/>
            <a:ext cx="4556451" cy="679383"/>
          </a:xfrm>
          <a:prstGeom prst="rect">
            <a:avLst/>
          </a:prstGeom>
          <a:ln>
            <a:noFill/>
          </a:ln>
        </p:spPr>
      </p:pic>
      <p:pic>
        <p:nvPicPr>
          <p:cNvPr id="14" name="Picture 2" descr="W:\SDCO_Zona Sur\SUR\CV TITULARES DE LAS O R\SEMBLANZAS CURRICULARES TOR -JUNIO 2024\FOTOS\PUEBLA FIDEL GAONA URBINA.png">
            <a:extLst>
              <a:ext uri="{FF2B5EF4-FFF2-40B4-BE49-F238E27FC236}">
                <a16:creationId xmlns:a16="http://schemas.microsoft.com/office/drawing/2014/main" id="{22F2DFD6-1608-4203-B9DB-3EDCF7A3D5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5" t="6068" r="5447" b="8458"/>
          <a:stretch/>
        </p:blipFill>
        <p:spPr bwMode="auto">
          <a:xfrm>
            <a:off x="732450" y="770638"/>
            <a:ext cx="1065179" cy="104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85A50674-F36E-4B68-89B8-2390C1A0157E}"/>
              </a:ext>
            </a:extLst>
          </p:cNvPr>
          <p:cNvSpPr/>
          <p:nvPr/>
        </p:nvSpPr>
        <p:spPr>
          <a:xfrm>
            <a:off x="490083" y="384185"/>
            <a:ext cx="1549915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JALISCO</a:t>
            </a:r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B5B16FB0-086A-4F96-853E-504EAB67A9BC}"/>
              </a:ext>
            </a:extLst>
          </p:cNvPr>
          <p:cNvSpPr/>
          <p:nvPr/>
        </p:nvSpPr>
        <p:spPr>
          <a:xfrm>
            <a:off x="178069" y="1884891"/>
            <a:ext cx="2161188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bg1"/>
                </a:solidFill>
                <a:latin typeface="Montserrat" pitchFamily="2" charset="0"/>
              </a:rPr>
              <a:t>Mtro. Fidel Gaona</a:t>
            </a:r>
          </a:p>
          <a:p>
            <a:pPr algn="ctr"/>
            <a:r>
              <a:rPr lang="es-ES" sz="1400" b="1" dirty="0">
                <a:solidFill>
                  <a:schemeClr val="bg1"/>
                </a:solidFill>
                <a:latin typeface="Montserrat" pitchFamily="2" charset="0"/>
              </a:rPr>
              <a:t>Urbina</a:t>
            </a:r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257</Words>
  <Application>Microsoft Office PowerPoint</Application>
  <PresentationFormat>Carta (216 x 279 mm)</PresentationFormat>
  <Paragraphs>34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31</cp:revision>
  <cp:lastPrinted>2025-06-17T18:35:45Z</cp:lastPrinted>
  <dcterms:created xsi:type="dcterms:W3CDTF">2025-04-24T00:06:49Z</dcterms:created>
  <dcterms:modified xsi:type="dcterms:W3CDTF">2025-06-17T19:33:59Z</dcterms:modified>
</cp:coreProperties>
</file>