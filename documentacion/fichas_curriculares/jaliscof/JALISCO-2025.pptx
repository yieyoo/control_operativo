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9144000" cy="6858000" type="letter"/>
  <p:notesSz cx="7023100" cy="93091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122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llermo Jiménez Gómez" userId="e8e1a3bb2d1e013b" providerId="LiveId" clId="{8B545E47-9E58-4C28-85F5-B6C8A0B371B7}"/>
    <pc:docChg chg="modSld">
      <pc:chgData name="Guillermo Jiménez Gómez" userId="e8e1a3bb2d1e013b" providerId="LiveId" clId="{8B545E47-9E58-4C28-85F5-B6C8A0B371B7}" dt="2025-06-18T18:21:37.865" v="1" actId="20577"/>
      <pc:docMkLst>
        <pc:docMk/>
      </pc:docMkLst>
      <pc:sldChg chg="modSp mod">
        <pc:chgData name="Guillermo Jiménez Gómez" userId="e8e1a3bb2d1e013b" providerId="LiveId" clId="{8B545E47-9E58-4C28-85F5-B6C8A0B371B7}" dt="2025-06-18T18:21:37.865" v="1" actId="20577"/>
        <pc:sldMkLst>
          <pc:docMk/>
          <pc:sldMk cId="4165610468" sldId="256"/>
        </pc:sldMkLst>
        <pc:spChg chg="mod">
          <ac:chgData name="Guillermo Jiménez Gómez" userId="e8e1a3bb2d1e013b" providerId="LiveId" clId="{8B545E47-9E58-4C28-85F5-B6C8A0B371B7}" dt="2025-06-18T18:21:37.865" v="1" actId="20577"/>
          <ac:spMkLst>
            <pc:docMk/>
            <pc:sldMk cId="4165610468" sldId="256"/>
            <ac:spMk id="20" creationId="{A03AE3FB-BBBB-4780-BEA0-348ED633AEF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19426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1904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41547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33058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2401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582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75524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07611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6246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358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63083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4CB750-BDA0-4B3C-9407-BAF21E562682}" type="datetimeFigureOut">
              <a:rPr lang="es-MX" smtClean="0"/>
              <a:t>18/06/2025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D2E30-DC50-4D4E-BBB1-166CEECB2E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56672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mailto:fgaona@inami.gob.m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CE2FDB39-6F72-464D-8AB2-CD36D7E6D7F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600" r="2539" b="7190"/>
          <a:stretch/>
        </p:blipFill>
        <p:spPr>
          <a:xfrm>
            <a:off x="157758" y="6278916"/>
            <a:ext cx="8986242" cy="637738"/>
          </a:xfrm>
          <a:prstGeom prst="rect">
            <a:avLst/>
          </a:prstGeom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D0722D44-FDBC-4129-AFBD-ABF5B06044DA}"/>
              </a:ext>
            </a:extLst>
          </p:cNvPr>
          <p:cNvGrpSpPr/>
          <p:nvPr/>
        </p:nvGrpSpPr>
        <p:grpSpPr>
          <a:xfrm>
            <a:off x="184447" y="224685"/>
            <a:ext cx="2161188" cy="6466461"/>
            <a:chOff x="440430" y="261026"/>
            <a:chExt cx="2381885" cy="8621948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0120CE6-BCC7-4F9B-8F8B-947245FEDD2E}"/>
                </a:ext>
              </a:extLst>
            </p:cNvPr>
            <p:cNvPicPr/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430" y="261026"/>
              <a:ext cx="2381885" cy="4332212"/>
            </a:xfrm>
            <a:prstGeom prst="rect">
              <a:avLst/>
            </a:prstGeom>
          </p:spPr>
        </p:pic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8D408511-F0FC-4365-AA24-3F55CAC94EDA}"/>
                </a:ext>
              </a:extLst>
            </p:cNvPr>
            <p:cNvPicPr/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430" y="4550762"/>
              <a:ext cx="2381885" cy="4332212"/>
            </a:xfrm>
            <a:prstGeom prst="rect">
              <a:avLst/>
            </a:prstGeom>
          </p:spPr>
        </p:pic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C39B6A8-850A-41A7-BC05-141D0CCF0BCC}"/>
              </a:ext>
            </a:extLst>
          </p:cNvPr>
          <p:cNvSpPr txBox="1"/>
          <p:nvPr/>
        </p:nvSpPr>
        <p:spPr>
          <a:xfrm>
            <a:off x="204515" y="2578798"/>
            <a:ext cx="2147740" cy="191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s-MX" sz="1000" b="1" dirty="0">
                <a:solidFill>
                  <a:schemeClr val="bg1"/>
                </a:solidFill>
                <a:latin typeface="Montserrat" pitchFamily="2" charset="0"/>
              </a:rPr>
              <a:t>Formación</a:t>
            </a:r>
          </a:p>
          <a:p>
            <a:pPr algn="ctr">
              <a:lnSpc>
                <a:spcPct val="150000"/>
              </a:lnSpc>
              <a:defRPr/>
            </a:pPr>
            <a:r>
              <a:rPr lang="es-MX" sz="1000" b="1" dirty="0">
                <a:solidFill>
                  <a:schemeClr val="bg1"/>
                </a:solidFill>
                <a:latin typeface="Montserrat" pitchFamily="2" charset="0"/>
              </a:rPr>
              <a:t> Académica</a:t>
            </a:r>
          </a:p>
          <a:p>
            <a:pPr algn="ctr">
              <a:lnSpc>
                <a:spcPct val="150000"/>
              </a:lnSpc>
              <a:defRPr/>
            </a:pPr>
            <a:endParaRPr lang="es-MX" sz="1000" b="1" dirty="0">
              <a:solidFill>
                <a:schemeClr val="bg1"/>
              </a:solidFill>
              <a:latin typeface="Montserrat" pitchFamily="2" charset="0"/>
            </a:endParaRPr>
          </a:p>
          <a:p>
            <a:pPr marL="128588" indent="-128588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s-ES" sz="1000" b="1" dirty="0">
                <a:solidFill>
                  <a:schemeClr val="bg1"/>
                </a:solidFill>
                <a:latin typeface="Montserrat" pitchFamily="2" charset="0"/>
              </a:rPr>
              <a:t>Estudios de Doctorado</a:t>
            </a:r>
            <a:r>
              <a:rPr lang="es-ES" sz="1000" dirty="0">
                <a:solidFill>
                  <a:schemeClr val="bg1"/>
                </a:solidFill>
                <a:latin typeface="Montserrat" pitchFamily="2" charset="0"/>
              </a:rPr>
              <a:t> en Administración Pública.</a:t>
            </a:r>
          </a:p>
          <a:p>
            <a:pPr marL="128588" indent="-128588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s-ES" sz="1000" b="1" dirty="0">
                <a:solidFill>
                  <a:schemeClr val="bg1"/>
                </a:solidFill>
                <a:latin typeface="Montserrat" pitchFamily="2" charset="0"/>
              </a:rPr>
              <a:t>Maestría </a:t>
            </a:r>
            <a:r>
              <a:rPr lang="es-ES" sz="1000" dirty="0">
                <a:solidFill>
                  <a:schemeClr val="bg1"/>
                </a:solidFill>
                <a:latin typeface="Montserrat" pitchFamily="2" charset="0"/>
              </a:rPr>
              <a:t>en Ciencias Penales.</a:t>
            </a:r>
          </a:p>
          <a:p>
            <a:pPr marL="128588" indent="-128588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s-MX" sz="1000" b="1" dirty="0">
                <a:solidFill>
                  <a:schemeClr val="bg1"/>
                </a:solidFill>
                <a:latin typeface="Montserrat" pitchFamily="2" charset="0"/>
              </a:rPr>
              <a:t>Licenciatura  </a:t>
            </a:r>
            <a:r>
              <a:rPr lang="es-MX" sz="1000" dirty="0">
                <a:solidFill>
                  <a:schemeClr val="bg1"/>
                </a:solidFill>
                <a:latin typeface="Montserrat" pitchFamily="2" charset="0"/>
              </a:rPr>
              <a:t>en Derecho. </a:t>
            </a:r>
            <a:endParaRPr lang="es-MX" sz="1000" dirty="0">
              <a:solidFill>
                <a:schemeClr val="bg1"/>
              </a:solidFill>
              <a:latin typeface="Montserrat" pitchFamily="2" charset="0"/>
              <a:ea typeface="Calibri"/>
              <a:cs typeface="Times New Roman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DC4B574-C21F-433D-9C03-EC1981764D48}"/>
              </a:ext>
            </a:extLst>
          </p:cNvPr>
          <p:cNvSpPr txBox="1"/>
          <p:nvPr/>
        </p:nvSpPr>
        <p:spPr>
          <a:xfrm>
            <a:off x="204515" y="4757056"/>
            <a:ext cx="2141120" cy="1936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s-MX" sz="1050" b="1" dirty="0">
                <a:solidFill>
                  <a:schemeClr val="bg1"/>
                </a:solidFill>
                <a:latin typeface="Montserrat" pitchFamily="2" charset="0"/>
              </a:rPr>
              <a:t>Información de Contacto</a:t>
            </a:r>
          </a:p>
          <a:p>
            <a:pPr algn="ctr">
              <a:lnSpc>
                <a:spcPct val="150000"/>
              </a:lnSpc>
              <a:defRPr/>
            </a:pPr>
            <a:endParaRPr lang="es-MX" sz="1050" b="1" dirty="0">
              <a:solidFill>
                <a:schemeClr val="bg1"/>
              </a:solidFill>
              <a:latin typeface="Montserrat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MX" sz="1000" b="1" dirty="0">
                <a:solidFill>
                  <a:schemeClr val="bg1"/>
                </a:solidFill>
                <a:latin typeface="Montserrat" pitchFamily="2" charset="0"/>
                <a:sym typeface="Wingdings 2"/>
              </a:rPr>
              <a:t> </a:t>
            </a:r>
            <a:r>
              <a:rPr lang="es-MX" sz="1000" b="1" dirty="0">
                <a:solidFill>
                  <a:schemeClr val="bg1"/>
                </a:solidFill>
                <a:latin typeface="Montserrat" pitchFamily="2" charset="0"/>
                <a:sym typeface="Wingdings"/>
              </a:rPr>
              <a:t>Personal: </a:t>
            </a:r>
            <a:r>
              <a:rPr lang="es-MX" sz="1000" dirty="0">
                <a:solidFill>
                  <a:schemeClr val="bg1"/>
                </a:solidFill>
                <a:latin typeface="Montserrat" pitchFamily="2" charset="0"/>
                <a:sym typeface="Wingdings"/>
              </a:rPr>
              <a:t>8261661241</a:t>
            </a:r>
          </a:p>
          <a:p>
            <a:pPr marL="128588" indent="-128588" algn="just">
              <a:lnSpc>
                <a:spcPct val="150000"/>
              </a:lnSpc>
              <a:buFont typeface="Wingdings" pitchFamily="2" charset="2"/>
              <a:buChar char="("/>
            </a:pPr>
            <a:r>
              <a:rPr lang="es-MX" sz="1000" b="1" dirty="0">
                <a:solidFill>
                  <a:schemeClr val="bg1"/>
                </a:solidFill>
                <a:latin typeface="Montserrat" pitchFamily="2" charset="0"/>
                <a:sym typeface="Wingdings"/>
              </a:rPr>
              <a:t>Trabajo: </a:t>
            </a:r>
            <a:r>
              <a:rPr lang="es-MX" sz="1000" dirty="0">
                <a:solidFill>
                  <a:schemeClr val="bg1"/>
                </a:solidFill>
                <a:latin typeface="Montserrat" pitchFamily="2" charset="0"/>
                <a:sym typeface="Wingdings"/>
              </a:rPr>
              <a:t>3339420290</a:t>
            </a:r>
          </a:p>
          <a:p>
            <a:pPr algn="just">
              <a:lnSpc>
                <a:spcPct val="150000"/>
              </a:lnSpc>
            </a:pPr>
            <a:r>
              <a:rPr lang="es-MX" sz="1000" dirty="0">
                <a:solidFill>
                  <a:schemeClr val="bg1"/>
                </a:solidFill>
                <a:latin typeface="Montserrat" pitchFamily="2" charset="0"/>
                <a:sym typeface="Wingdings"/>
              </a:rPr>
              <a:t>ext.  8420201</a:t>
            </a:r>
          </a:p>
          <a:p>
            <a:pPr marL="128588" indent="-128588" algn="just">
              <a:lnSpc>
                <a:spcPct val="150000"/>
              </a:lnSpc>
              <a:buFont typeface="Wingdings" pitchFamily="2" charset="2"/>
              <a:buChar char="*"/>
            </a:pPr>
            <a:r>
              <a:rPr lang="es-MX" sz="1000" b="1" dirty="0">
                <a:solidFill>
                  <a:schemeClr val="bg1"/>
                </a:solidFill>
                <a:latin typeface="Montserrat" pitchFamily="2" charset="0"/>
                <a:sym typeface="Wingdings"/>
              </a:rPr>
              <a:t>Institucional </a:t>
            </a:r>
          </a:p>
          <a:p>
            <a:pPr algn="just">
              <a:lnSpc>
                <a:spcPct val="150000"/>
              </a:lnSpc>
            </a:pPr>
            <a:r>
              <a:rPr lang="es-MX" sz="1000" b="1" dirty="0">
                <a:solidFill>
                  <a:schemeClr val="bg1"/>
                </a:solidFill>
                <a:latin typeface="Montserrat" pitchFamily="2" charset="0"/>
                <a:sym typeface="Wingding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fgaona@inami.gob.mx</a:t>
            </a:r>
            <a:endParaRPr lang="es-MX" sz="1000" b="1" dirty="0">
              <a:solidFill>
                <a:schemeClr val="bg1"/>
              </a:solidFill>
              <a:latin typeface="Montserrat" pitchFamily="2" charset="0"/>
              <a:sym typeface="Wingdings"/>
            </a:endParaRPr>
          </a:p>
          <a:p>
            <a:pPr algn="just">
              <a:lnSpc>
                <a:spcPct val="150000"/>
              </a:lnSpc>
            </a:pPr>
            <a:endParaRPr lang="es-MX" sz="1000" b="1" dirty="0">
              <a:solidFill>
                <a:schemeClr val="bg1"/>
              </a:solidFill>
              <a:latin typeface="Montserrat" pitchFamily="2" charset="0"/>
              <a:sym typeface="Wingdings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03AE3FB-BBBB-4780-BEA0-348ED633AEF9}"/>
              </a:ext>
            </a:extLst>
          </p:cNvPr>
          <p:cNvSpPr txBox="1"/>
          <p:nvPr/>
        </p:nvSpPr>
        <p:spPr>
          <a:xfrm>
            <a:off x="2372323" y="454312"/>
            <a:ext cx="6771677" cy="6170535"/>
          </a:xfrm>
          <a:prstGeom prst="rect">
            <a:avLst/>
          </a:prstGeom>
          <a:noFill/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sz="1600" b="1" dirty="0">
                <a:solidFill>
                  <a:srgbClr val="DEC9A7"/>
                </a:solidFill>
                <a:latin typeface="Montserrat" pitchFamily="2" charset="0"/>
              </a:rPr>
              <a:t>TRAYECTORIA INM</a:t>
            </a:r>
          </a:p>
          <a:p>
            <a:pPr algn="just">
              <a:lnSpc>
                <a:spcPct val="150000"/>
              </a:lnSpc>
              <a:defRPr/>
            </a:pPr>
            <a:endParaRPr lang="es-MX" sz="800" b="1" dirty="0">
              <a:solidFill>
                <a:srgbClr val="660033"/>
              </a:solidFill>
              <a:latin typeface="Montserrat" pitchFamily="2" charset="0"/>
            </a:endParaRPr>
          </a:p>
          <a:p>
            <a:pPr algn="just">
              <a:lnSpc>
                <a:spcPct val="150000"/>
              </a:lnSpc>
              <a:defRPr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Año de ingreso al INM: 2019</a:t>
            </a:r>
          </a:p>
          <a:p>
            <a:pPr marL="128588" indent="-128588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Oficina de Representación en el Estado de Jalisco.</a:t>
            </a:r>
          </a:p>
          <a:p>
            <a:pPr marL="135731" indent="-135731" algn="just">
              <a:lnSpc>
                <a:spcPct val="150000"/>
              </a:lnSpc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     19/06/2025 - a la fecha: </a:t>
            </a: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Titular de la Oficina de  Representación.</a:t>
            </a:r>
            <a:endParaRPr lang="es-MX" sz="1000" b="1" dirty="0">
              <a:solidFill>
                <a:srgbClr val="660033"/>
              </a:solidFill>
              <a:latin typeface="Montserrat" pitchFamily="2" charset="0"/>
            </a:endParaRPr>
          </a:p>
          <a:p>
            <a:pPr marL="128588" indent="-128588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Oficina de Representación en el Estado de Puebla.</a:t>
            </a:r>
          </a:p>
          <a:p>
            <a:pPr marL="135731" indent="-135731" algn="just">
              <a:lnSpc>
                <a:spcPct val="150000"/>
              </a:lnSpc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     01/01/2023 – 15/06/2025: </a:t>
            </a: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Titular de la Oficina de  Representación.</a:t>
            </a:r>
          </a:p>
          <a:p>
            <a:pPr marL="135731" indent="-135731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Oficina de Representación en el Estado de Tlaxcala.</a:t>
            </a:r>
          </a:p>
          <a:p>
            <a:pPr algn="just">
              <a:lnSpc>
                <a:spcPct val="150000"/>
              </a:lnSpc>
              <a:defRPr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     16/01/2022 – 31/12/2022: </a:t>
            </a: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Titular de la Oficina de  Representación.</a:t>
            </a:r>
          </a:p>
          <a:p>
            <a:pPr marL="128588" indent="-128588" algn="just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Oficina de Representación en el Estado de Puebla.</a:t>
            </a:r>
          </a:p>
          <a:p>
            <a:pPr algn="just">
              <a:lnSpc>
                <a:spcPct val="150000"/>
              </a:lnSpc>
              <a:defRPr/>
            </a:pP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     </a:t>
            </a: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16/06/2019 – 15/01/2022:</a:t>
            </a: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 Representante Local Zona Norte.</a:t>
            </a:r>
          </a:p>
          <a:p>
            <a:pPr algn="just">
              <a:lnSpc>
                <a:spcPct val="150000"/>
              </a:lnSpc>
            </a:pPr>
            <a:r>
              <a:rPr lang="es-MX" sz="1600" b="1" dirty="0">
                <a:solidFill>
                  <a:srgbClr val="DEC9A7"/>
                </a:solidFill>
                <a:latin typeface="Montserrat" pitchFamily="2" charset="0"/>
              </a:rPr>
              <a:t>CARRERA PROFESIONAL</a:t>
            </a:r>
          </a:p>
          <a:p>
            <a:pPr algn="just">
              <a:lnSpc>
                <a:spcPct val="150000"/>
              </a:lnSpc>
            </a:pPr>
            <a:endParaRPr lang="es-MX" sz="400" b="1" dirty="0">
              <a:solidFill>
                <a:srgbClr val="DEC9A7"/>
              </a:solidFill>
              <a:latin typeface="Montserrat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Cuenta con más de 15 años de experiencia en la Administración Pública, ocupando los siguientes puestos, entre otros:</a:t>
            </a:r>
          </a:p>
          <a:p>
            <a:pPr marL="128588" indent="-128588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Gobierno del Estado de México: </a:t>
            </a: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Subdirector de Licencias de Funcionamiento/Subdirector de Movilidad/Director de Apoyo Técnico del Sistema Estatal de Seguridad Pública/Subdirector General de Seguridad Pública y Vialidad;</a:t>
            </a:r>
          </a:p>
          <a:p>
            <a:pPr marL="128588" indent="-128588" algn="just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Secretaría de Agricultura, Ganadería, Desarrollo Rural, Pesca y Alimentación. Apoyos y Servicios a la Comercialización Agropecuaria: </a:t>
            </a: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Director General de Programación y Evaluación  de Apoyos Directos;</a:t>
            </a:r>
          </a:p>
          <a:p>
            <a:pPr marL="128588" indent="-128588" algn="just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Gobierno del Estado de Tamaulipas: </a:t>
            </a:r>
            <a:r>
              <a:rPr lang="es-MX" sz="1000" dirty="0">
                <a:solidFill>
                  <a:srgbClr val="660033"/>
                </a:solidFill>
                <a:latin typeface="Montserrat" pitchFamily="2" charset="0"/>
              </a:rPr>
              <a:t>Subdirector de la Policía Preventiva en Reynosa/Director de Seguridad Pública y Vialidad en Ciudad del Mante;</a:t>
            </a:r>
          </a:p>
          <a:p>
            <a:pPr marL="128588" indent="-128588" algn="just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lang="es-MX" sz="1000" b="1" dirty="0">
                <a:solidFill>
                  <a:srgbClr val="660033"/>
                </a:solidFill>
                <a:latin typeface="Montserrat" pitchFamily="2" charset="0"/>
              </a:rPr>
              <a:t>Entre otros cargos.</a:t>
            </a:r>
          </a:p>
          <a:p>
            <a:pPr>
              <a:lnSpc>
                <a:spcPct val="150000"/>
              </a:lnSpc>
              <a:defRPr/>
            </a:pPr>
            <a:endParaRPr lang="es-MX" sz="1050" dirty="0">
              <a:solidFill>
                <a:srgbClr val="660033"/>
              </a:solidFill>
              <a:latin typeface="Montserrat" pitchFamily="2" charset="0"/>
            </a:endParaRPr>
          </a:p>
        </p:txBody>
      </p:sp>
      <p:pic>
        <p:nvPicPr>
          <p:cNvPr id="21" name="0 Imagen">
            <a:extLst>
              <a:ext uri="{FF2B5EF4-FFF2-40B4-BE49-F238E27FC236}">
                <a16:creationId xmlns:a16="http://schemas.microsoft.com/office/drawing/2014/main" id="{4482D245-332C-4A06-9EC6-A0156C6C73D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3" r="39266"/>
          <a:stretch/>
        </p:blipFill>
        <p:spPr>
          <a:xfrm>
            <a:off x="4587549" y="12579"/>
            <a:ext cx="4556451" cy="679383"/>
          </a:xfrm>
          <a:prstGeom prst="rect">
            <a:avLst/>
          </a:prstGeom>
          <a:ln>
            <a:noFill/>
          </a:ln>
        </p:spPr>
      </p:pic>
      <p:pic>
        <p:nvPicPr>
          <p:cNvPr id="14" name="Picture 2" descr="W:\SDCO_Zona Sur\SUR\CV TITULARES DE LAS O R\SEMBLANZAS CURRICULARES TOR -JUNIO 2024\FOTOS\PUEBLA FIDEL GAONA URBINA.png">
            <a:extLst>
              <a:ext uri="{FF2B5EF4-FFF2-40B4-BE49-F238E27FC236}">
                <a16:creationId xmlns:a16="http://schemas.microsoft.com/office/drawing/2014/main" id="{22F2DFD6-1608-4203-B9DB-3EDCF7A3D5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35" t="6068" r="5447" b="8458"/>
          <a:stretch/>
        </p:blipFill>
        <p:spPr bwMode="auto">
          <a:xfrm>
            <a:off x="732450" y="770638"/>
            <a:ext cx="1065179" cy="104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8 Rectángulo">
            <a:extLst>
              <a:ext uri="{FF2B5EF4-FFF2-40B4-BE49-F238E27FC236}">
                <a16:creationId xmlns:a16="http://schemas.microsoft.com/office/drawing/2014/main" id="{85A50674-F36E-4B68-89B8-2390C1A0157E}"/>
              </a:ext>
            </a:extLst>
          </p:cNvPr>
          <p:cNvSpPr/>
          <p:nvPr/>
        </p:nvSpPr>
        <p:spPr>
          <a:xfrm>
            <a:off x="490083" y="384185"/>
            <a:ext cx="1549915" cy="30777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s-MX" sz="1400" b="1" dirty="0">
                <a:solidFill>
                  <a:schemeClr val="bg1"/>
                </a:solidFill>
                <a:latin typeface="Montserrat" pitchFamily="2" charset="0"/>
              </a:rPr>
              <a:t>JALISCO</a:t>
            </a:r>
            <a:endParaRPr lang="es-MX" sz="140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9" name="10 Rectángulo">
            <a:extLst>
              <a:ext uri="{FF2B5EF4-FFF2-40B4-BE49-F238E27FC236}">
                <a16:creationId xmlns:a16="http://schemas.microsoft.com/office/drawing/2014/main" id="{B5B16FB0-086A-4F96-853E-504EAB67A9BC}"/>
              </a:ext>
            </a:extLst>
          </p:cNvPr>
          <p:cNvSpPr/>
          <p:nvPr/>
        </p:nvSpPr>
        <p:spPr>
          <a:xfrm>
            <a:off x="178069" y="1884891"/>
            <a:ext cx="2161188" cy="52322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s-ES" sz="1400" b="1" dirty="0">
                <a:solidFill>
                  <a:schemeClr val="bg1"/>
                </a:solidFill>
                <a:latin typeface="Montserrat" pitchFamily="2" charset="0"/>
              </a:rPr>
              <a:t>Mtro. Fidel Gaona</a:t>
            </a:r>
          </a:p>
          <a:p>
            <a:pPr algn="ctr"/>
            <a:r>
              <a:rPr lang="es-ES" sz="1400" b="1" dirty="0">
                <a:solidFill>
                  <a:schemeClr val="bg1"/>
                </a:solidFill>
                <a:latin typeface="Montserrat" pitchFamily="2" charset="0"/>
              </a:rPr>
              <a:t>Urbina</a:t>
            </a:r>
            <a:endParaRPr lang="es-MX" sz="140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6104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</TotalTime>
  <Words>257</Words>
  <Application>Microsoft Office PowerPoint</Application>
  <PresentationFormat>Carta (216 x 279 mm)</PresentationFormat>
  <Paragraphs>34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Montserrat</vt:lpstr>
      <vt:lpstr>Wingdings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Jimenez Hernandez, Diego Emilio</dc:creator>
  <cp:lastModifiedBy>Guillermo Jiménez Gómez</cp:lastModifiedBy>
  <cp:revision>31</cp:revision>
  <cp:lastPrinted>2025-06-17T18:35:45Z</cp:lastPrinted>
  <dcterms:created xsi:type="dcterms:W3CDTF">2025-04-24T00:06:49Z</dcterms:created>
  <dcterms:modified xsi:type="dcterms:W3CDTF">2025-06-18T18:21:40Z</dcterms:modified>
</cp:coreProperties>
</file>