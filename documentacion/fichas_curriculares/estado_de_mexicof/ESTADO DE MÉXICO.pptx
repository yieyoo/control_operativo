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858000" cy="9144000" type="letter"/>
  <p:notesSz cx="7023100" cy="93091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800" y="-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EBF7A-692B-4EE3-BF7E-EA8EB37C2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496484"/>
            <a:ext cx="5143500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6EAD4-0760-4C6A-944C-2C2D42D1B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8EEAE-0F1B-4FF6-9B9B-21872C225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CDC0F5-6DA0-4E7A-9EF7-7D8A92BE2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DDABCD-9A6F-40E0-9774-0889ABE01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41368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D87F3E-CA6E-4755-ACC0-2AC8541D6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D89490-1969-4984-BFF0-867034080A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1F3E39-BFFD-4885-9E34-114DE75D9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97BE5D-9393-4F4F-B700-A0CAD38A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6AF07F-CE4B-4118-A3A7-AB16BAED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959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793404-2869-4A86-A0CA-271BC8B33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2279652"/>
            <a:ext cx="5915025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33AA1F-C9F0-4143-AB3E-35383B046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6119285"/>
            <a:ext cx="5915025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2BEBA4-9FFB-4BF0-A026-4816B56F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F67B1C-19CE-4F64-9542-9DCE7A60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353A3-9548-43DE-8CD9-6DB5A38F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5345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C15A4-D02F-4F43-A86F-ECD796C82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10DB8C-36C1-47DD-9592-FBEF99DD4B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161652-958D-4B9D-98E1-1EA833503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332EA4-1378-4707-91D6-82C1652DC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10AE988-29C0-4E5D-9BD9-8480E52D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329549-E9E2-4C7A-851D-22B12E9E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7090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DFFABA-0A76-4F21-AC30-47142D12D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486834"/>
            <a:ext cx="5915025" cy="176741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CA08E8-64B5-43EF-A3DE-7A5F2D8E4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9EB96A-760A-477C-85F8-112818D1A7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F9B2F0-4572-45EA-BB8D-232709D0BD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F3A4DA-5CF0-4457-A579-9828BDF7E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EAB2C1-2BB2-439D-88C7-FC7AA7763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492C24-AFC6-4FEB-958B-5AC0F9BC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A792CF-E46F-4D29-9E6C-4297722F9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9709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F3ECD5-A98E-4A2D-B68C-4221A7AE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02D83E-B2D3-4A8E-97DB-BB9E807C6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1C5280C-F4DB-4352-9590-F0EADB6A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06FABE-6C85-4018-84C0-58C6CA8A2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94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EC9BB6-B87C-428A-936F-19B6D75B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790AA97-39EF-4191-8916-73FAFF4E8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C357412-B494-43D5-9F0E-F9B88780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520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370419-ED70-4B34-A95C-53C85F83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F41884-0453-41BB-8C5A-5BB3DACCF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046816-C803-45EE-BE0E-A1F9B5CC5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4CAFC5C-D795-4F1C-A8EC-6CD3D5BF6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EF8D43-6EB1-41DD-868A-D4D3FD2C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68B448-F040-40F4-BA48-5DDA186A7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6253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0C3876-0D41-483C-81DD-4EAEF203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2DC8C9-2D6C-46A3-8D75-E959AD4E74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316567"/>
            <a:ext cx="3471863" cy="6498167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CC682-CA7D-4186-8C38-286A7E966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281FE2-0DBA-4FF5-9AFC-291FF4F0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EE1F78-B8CB-4AB1-81D3-C97125670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E29F28-F406-477F-8C4A-0C3085C2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191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CCDB13-0BE6-4E06-BC10-072A60FA0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5E1024-75B0-4EF9-9921-51B0ADB3D9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D65639-BABA-40FF-8F9D-2016ECD3B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E5E570-FB2B-4366-ACC6-3463111D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5A205C-AF50-41ED-BD3D-F0768E5C5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40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3469B6-C1C3-4FC1-834B-6B7C6502B6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486834"/>
            <a:ext cx="1478756" cy="7749117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54BC25C-DE53-4135-9A11-E8DAAB501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486834"/>
            <a:ext cx="4350544" cy="7749117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1FF186-9FE1-46E0-9B9A-192C4AFDA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FF2CE4-A938-4649-AC7A-43FB7AC19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5FF8C9-E460-43B1-8E12-7E46A518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1111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5A41811-CA89-497B-82DD-0031F6949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6834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CC98D0-3200-448A-8C23-4F20CA7DD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CBC678-4BF1-4BE1-A54B-CCBE06B43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B750-BDA0-4B3C-9407-BAF21E562682}" type="datetimeFigureOut">
              <a:rPr lang="es-MX" smtClean="0"/>
              <a:t>17.06.2025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280666-41A2-4D89-A9C7-B24488FCEE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8475134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54BF86-CC19-469B-8C51-131DAF583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134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FD2E30-DC50-4D4E-BBB1-166CEECB2EF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7317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>
            <a:extLst>
              <a:ext uri="{FF2B5EF4-FFF2-40B4-BE49-F238E27FC236}">
                <a16:creationId xmlns:a16="http://schemas.microsoft.com/office/drawing/2014/main" id="{D0722D44-FDBC-4129-AFBD-ABF5B06044DA}"/>
              </a:ext>
            </a:extLst>
          </p:cNvPr>
          <p:cNvGrpSpPr/>
          <p:nvPr/>
        </p:nvGrpSpPr>
        <p:grpSpPr>
          <a:xfrm>
            <a:off x="243211" y="222472"/>
            <a:ext cx="2066553" cy="8621948"/>
            <a:chOff x="440430" y="261026"/>
            <a:chExt cx="2381885" cy="8621948"/>
          </a:xfrm>
        </p:grpSpPr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0120CE6-BCC7-4F9B-8F8B-947245FEDD2E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261026"/>
              <a:ext cx="2381885" cy="4332212"/>
            </a:xfrm>
            <a:prstGeom prst="rect">
              <a:avLst/>
            </a:prstGeom>
          </p:spPr>
        </p:pic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8D408511-F0FC-4365-AA24-3F55CAC94EDA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430" y="4550762"/>
              <a:ext cx="2381885" cy="4332212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C39B6A8-850A-41A7-BC05-141D0CCF0BCC}"/>
              </a:ext>
            </a:extLst>
          </p:cNvPr>
          <p:cNvSpPr txBox="1"/>
          <p:nvPr/>
        </p:nvSpPr>
        <p:spPr>
          <a:xfrm>
            <a:off x="233944" y="3335434"/>
            <a:ext cx="2066553" cy="1288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Formación Académica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ts val="1200"/>
              <a:buFont typeface="Wingdings"/>
              <a:buChar char=""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Licenciatura</a:t>
            </a: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 en Derecho.</a:t>
            </a:r>
            <a:endParaRPr lang="es-MX" sz="1100" b="0" dirty="0">
              <a:solidFill>
                <a:schemeClr val="bg1"/>
              </a:solidFill>
              <a:effectLst/>
              <a:latin typeface="Montserrat" pitchFamily="2" charset="0"/>
            </a:endParaRP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MX" sz="1100" dirty="0">
                <a:solidFill>
                  <a:schemeClr val="bg1"/>
                </a:solidFill>
                <a:effectLst/>
                <a:latin typeface="Montserrat" pitchFamily="2" charset="0"/>
              </a:rPr>
              <a:t> </a:t>
            </a:r>
            <a:endParaRPr lang="es-MX" sz="1100" dirty="0">
              <a:solidFill>
                <a:schemeClr val="bg1"/>
              </a:solidFill>
              <a:effectLst/>
              <a:latin typeface="Montserrat" pitchFamily="2" charset="0"/>
              <a:ea typeface="Calibri"/>
              <a:cs typeface="Times New Roman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DC4B574-C21F-433D-9C03-EC1981764D48}"/>
              </a:ext>
            </a:extLst>
          </p:cNvPr>
          <p:cNvSpPr txBox="1"/>
          <p:nvPr/>
        </p:nvSpPr>
        <p:spPr>
          <a:xfrm>
            <a:off x="224679" y="5358287"/>
            <a:ext cx="2085085" cy="2094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Información de Contacto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 2"/>
              </a:rPr>
              <a:t> </a:t>
            </a: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Personal:</a:t>
            </a:r>
          </a:p>
          <a:p>
            <a:pPr marL="0" indent="0" algn="l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0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5569917376</a:t>
            </a:r>
          </a:p>
          <a:p>
            <a:pPr marL="171450" indent="-17145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Char char="("/>
            </a:pP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Trabajo</a:t>
            </a:r>
            <a:r>
              <a:rPr lang="es-MX" sz="1100" b="1" dirty="0">
                <a:solidFill>
                  <a:schemeClr val="bg1"/>
                </a:solidFill>
                <a:latin typeface="Montserrat" pitchFamily="2" charset="0"/>
                <a:sym typeface="Wingdings"/>
              </a:rPr>
              <a:t>:</a:t>
            </a:r>
            <a:r>
              <a:rPr lang="es-MX" sz="1100" b="0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7222155884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0" baseline="0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ext.  </a:t>
            </a:r>
            <a:r>
              <a:rPr lang="es-MX" sz="1100" b="0" baseline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8370262</a:t>
            </a:r>
            <a:endParaRPr lang="es-MX" sz="1100" baseline="0">
              <a:solidFill>
                <a:schemeClr val="bg1"/>
              </a:solidFill>
              <a:latin typeface="Montserrat" pitchFamily="2" charset="0"/>
              <a:sym typeface="Wingdings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1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Institucional</a:t>
            </a:r>
            <a:r>
              <a:rPr lang="es-MX" sz="1100" b="1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: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r>
              <a:rPr lang="es-MX" sz="1100" b="1" baseline="0" dirty="0">
                <a:solidFill>
                  <a:schemeClr val="bg1"/>
                </a:solidFill>
                <a:effectLst/>
                <a:latin typeface="Montserrat" pitchFamily="2" charset="0"/>
                <a:sym typeface="Wingdings"/>
              </a:rPr>
              <a:t>ncampos@inami.gob.mx</a:t>
            </a: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itchFamily="2" charset="2"/>
              <a:buNone/>
            </a:pPr>
            <a:endParaRPr lang="es-MX" sz="1100" b="1" dirty="0">
              <a:solidFill>
                <a:schemeClr val="bg1"/>
              </a:solidFill>
              <a:effectLst/>
              <a:latin typeface="Montserrat" pitchFamily="2" charset="0"/>
              <a:sym typeface="Wingding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03AE3FB-BBBB-4780-BEA0-348ED633AEF9}"/>
              </a:ext>
            </a:extLst>
          </p:cNvPr>
          <p:cNvSpPr txBox="1"/>
          <p:nvPr/>
        </p:nvSpPr>
        <p:spPr>
          <a:xfrm>
            <a:off x="2328296" y="1676945"/>
            <a:ext cx="4512374" cy="7381060"/>
          </a:xfrm>
          <a:prstGeom prst="rect">
            <a:avLst/>
          </a:prstGeo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MX" b="1" dirty="0">
                <a:solidFill>
                  <a:srgbClr val="DEC9A7"/>
                </a:solidFill>
                <a:effectLst/>
                <a:latin typeface="Montserrat" pitchFamily="2" charset="0"/>
              </a:rPr>
              <a:t>TRAYECTORIA INM</a:t>
            </a:r>
          </a:p>
          <a:p>
            <a:pPr>
              <a:lnSpc>
                <a:spcPct val="150000"/>
              </a:lnSpc>
              <a:spcAft>
                <a:spcPts val="0"/>
              </a:spcAft>
            </a:pPr>
            <a:endParaRPr lang="es-MX" sz="1200" b="1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Año de ingreso al INM: 2019.</a:t>
            </a:r>
            <a:endParaRPr lang="es-MX" sz="1000" b="1" dirty="0">
              <a:solidFill>
                <a:srgbClr val="660033"/>
              </a:solidFill>
              <a:effectLst/>
              <a:latin typeface="Montserrat" pitchFamily="2" charset="0"/>
            </a:endParaRPr>
          </a:p>
          <a:p>
            <a:pPr marL="171450" lvl="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effectLst/>
                <a:latin typeface="Montserrat" pitchFamily="2" charset="0"/>
              </a:rPr>
              <a:t>Oficina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de Representación en el Estado de México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Font typeface="Wingdings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16/06/2025-a la fecha:</a:t>
            </a:r>
            <a:r>
              <a:rPr lang="es-MX" sz="10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Titular de Oficina de Representación.</a:t>
            </a:r>
            <a:endParaRPr lang="es-MX" sz="1000" b="1" dirty="0">
              <a:solidFill>
                <a:srgbClr val="660033"/>
              </a:solidFill>
              <a:effectLst/>
              <a:latin typeface="Montserrat" pitchFamily="2" charset="0"/>
            </a:endParaRPr>
          </a:p>
          <a:p>
            <a:pPr marL="171450" lvl="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000" b="1" dirty="0">
                <a:solidFill>
                  <a:srgbClr val="660033"/>
                </a:solidFill>
                <a:effectLst/>
                <a:latin typeface="Montserrat" pitchFamily="2" charset="0"/>
              </a:rPr>
              <a:t>Oficina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de Representación en el Estado de Morelos.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Font typeface="Wingdings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16/03/2025-15/06/2025:</a:t>
            </a:r>
            <a:r>
              <a:rPr lang="es-MX" sz="10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Titular de Oficina de Representación.</a:t>
            </a:r>
          </a:p>
          <a:p>
            <a:pPr marL="171450" lvl="0" indent="-171450" algn="just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Dirección General de Coordinación de Oficinas de Representación. 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Font typeface="Wingdings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01/01/2024-28/02/2025:</a:t>
            </a:r>
            <a:r>
              <a:rPr lang="es-MX" sz="10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Directora de Supervisión y Evaluación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Font typeface="Wingdings"/>
              <a:buNone/>
            </a:pPr>
            <a:r>
              <a:rPr lang="es-MX" sz="1000" dirty="0">
                <a:solidFill>
                  <a:srgbClr val="660033"/>
                </a:solidFill>
                <a:latin typeface="Montserrat" pitchFamily="2" charset="0"/>
              </a:rPr>
              <a:t>      </a:t>
            </a:r>
            <a:r>
              <a:rPr lang="es-MX" sz="10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Regional.</a:t>
            </a:r>
          </a:p>
          <a:p>
            <a:pPr marL="0" lvl="0" indent="0" algn="just">
              <a:lnSpc>
                <a:spcPct val="150000"/>
              </a:lnSpc>
              <a:spcAft>
                <a:spcPts val="0"/>
              </a:spcAft>
              <a:buFont typeface="Wingdings"/>
              <a:buNone/>
            </a:pP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   01/11/2019-31/12/2023:</a:t>
            </a:r>
            <a:r>
              <a:rPr lang="es-MX" sz="10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 Subdirectora de Supervisión.</a:t>
            </a:r>
          </a:p>
          <a:p>
            <a:pPr marL="0" marR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MX" sz="1000" b="0" baseline="0" dirty="0">
              <a:solidFill>
                <a:srgbClr val="660033"/>
              </a:solidFill>
              <a:effectLst/>
              <a:latin typeface="Montserrat" pitchFamily="2" charset="0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MX" sz="1600" b="1" dirty="0">
                <a:solidFill>
                  <a:srgbClr val="DEC9A7"/>
                </a:solidFill>
                <a:effectLst/>
                <a:latin typeface="Montserrat" pitchFamily="2" charset="0"/>
              </a:rPr>
              <a:t>CARRERA PROFESIONAL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lang="es-MX" sz="1000" b="1" dirty="0">
              <a:solidFill>
                <a:srgbClr val="DEC9A7"/>
              </a:solidFill>
              <a:effectLst/>
              <a:latin typeface="Montserrat" pitchFamily="2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s-MX" sz="1000" b="1" kern="1200" baseline="0" dirty="0">
                <a:solidFill>
                  <a:srgbClr val="660033"/>
                </a:solidFill>
                <a:effectLst/>
                <a:latin typeface="Montserrat" pitchFamily="2" charset="0"/>
                <a:ea typeface="+mn-ea"/>
                <a:cs typeface="+mn-cs"/>
              </a:rPr>
              <a:t>Cuenta con una trayectoria de más de 18 años de experiencia en el sector público, ocupando entre otros cargos, los siguientes:</a:t>
            </a:r>
            <a:endParaRPr lang="es-MX" sz="1000" b="0" kern="1200" baseline="0" dirty="0">
              <a:solidFill>
                <a:srgbClr val="660033"/>
              </a:solidFill>
              <a:effectLst/>
              <a:latin typeface="Montserrat" pitchFamily="2" charset="0"/>
              <a:ea typeface="+mn-ea"/>
              <a:cs typeface="+mn-cs"/>
            </a:endParaRP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Directora de Asistencia Técnica de la Secretaria General. 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Instituto Politécnico Nacional.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Directora de Gobierno y Subdirectora de Mercados y Comercio en Vía Publica. 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Alcaldía Miguel Hidalgo.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Jefa del Área de Concertación de Apoyos Económicos. 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Centro de Incubación de Empresas de Base Tecnológica.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Directora General Adjunta de Ordenamiento de la Propiedad Rural. 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Secretaria de la Reforma Agraria SEDATU.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Directora de Expropiaciones. 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Secretaria de la Reforma Agraria SEDATU.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10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Diputada Federal de Mayoría. </a:t>
            </a:r>
            <a:r>
              <a:rPr lang="es-MX" sz="1000" b="1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H. Congreso de la Unión.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s-MX" sz="1100" b="0" baseline="0" dirty="0">
                <a:solidFill>
                  <a:srgbClr val="660033"/>
                </a:solidFill>
                <a:effectLst/>
                <a:latin typeface="Montserrat" pitchFamily="2" charset="0"/>
              </a:rPr>
              <a:t> </a:t>
            </a:r>
          </a:p>
        </p:txBody>
      </p:sp>
      <p:pic>
        <p:nvPicPr>
          <p:cNvPr id="21" name="0 Imagen">
            <a:extLst>
              <a:ext uri="{FF2B5EF4-FFF2-40B4-BE49-F238E27FC236}">
                <a16:creationId xmlns:a16="http://schemas.microsoft.com/office/drawing/2014/main" id="{4482D245-332C-4A06-9EC6-A0156C6C73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3" r="39266"/>
          <a:stretch/>
        </p:blipFill>
        <p:spPr>
          <a:xfrm>
            <a:off x="2309764" y="299580"/>
            <a:ext cx="4105469" cy="612140"/>
          </a:xfrm>
          <a:prstGeom prst="rect">
            <a:avLst/>
          </a:prstGeom>
          <a:ln>
            <a:noFill/>
          </a:ln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2837B4FB-8C00-422F-8D1C-FD589B938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30" y="1061536"/>
            <a:ext cx="870313" cy="1041400"/>
          </a:xfrm>
          <a:prstGeom prst="rect">
            <a:avLst/>
          </a:prstGeom>
        </p:spPr>
      </p:pic>
      <p:sp>
        <p:nvSpPr>
          <p:cNvPr id="15" name="8 Rectángulo">
            <a:extLst>
              <a:ext uri="{FF2B5EF4-FFF2-40B4-BE49-F238E27FC236}">
                <a16:creationId xmlns:a16="http://schemas.microsoft.com/office/drawing/2014/main" id="{EE1326C0-06C7-443B-ACC7-D94474A332A8}"/>
              </a:ext>
            </a:extLst>
          </p:cNvPr>
          <p:cNvSpPr/>
          <p:nvPr/>
        </p:nvSpPr>
        <p:spPr>
          <a:xfrm>
            <a:off x="243211" y="366981"/>
            <a:ext cx="2032800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b="1" dirty="0">
                <a:solidFill>
                  <a:schemeClr val="bg1"/>
                </a:solidFill>
                <a:latin typeface="Montserrat" pitchFamily="2" charset="0"/>
              </a:rPr>
              <a:t>ESTADO DE MÉXICO</a:t>
            </a:r>
            <a:endParaRPr lang="es-MX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9" name="10 Rectángulo">
            <a:extLst>
              <a:ext uri="{FF2B5EF4-FFF2-40B4-BE49-F238E27FC236}">
                <a16:creationId xmlns:a16="http://schemas.microsoft.com/office/drawing/2014/main" id="{728806EA-565D-44D4-9DBF-0DF805DD1E0D}"/>
              </a:ext>
            </a:extLst>
          </p:cNvPr>
          <p:cNvSpPr/>
          <p:nvPr/>
        </p:nvSpPr>
        <p:spPr>
          <a:xfrm>
            <a:off x="260086" y="2303988"/>
            <a:ext cx="2032800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s-MX" sz="1400" b="1" dirty="0">
                <a:solidFill>
                  <a:schemeClr val="bg1"/>
                </a:solidFill>
                <a:latin typeface="Montserrat" pitchFamily="2" charset="0"/>
              </a:rPr>
              <a:t>Lic. Nelly Campos Quiroz</a:t>
            </a:r>
            <a:endParaRPr lang="es-MX" sz="1400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E2FDB39-6F72-464D-8AB2-CD36D7E6D7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00" b="20944"/>
          <a:stretch/>
        </p:blipFill>
        <p:spPr>
          <a:xfrm>
            <a:off x="0" y="8336775"/>
            <a:ext cx="6829939" cy="7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6104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78</TotalTime>
  <Words>226</Words>
  <Application>Microsoft Office PowerPoint</Application>
  <PresentationFormat>Carta (216 x 279 mm)</PresentationFormat>
  <Paragraphs>35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Wingdings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Jimenez Hernandez, Diego Emilio</dc:creator>
  <cp:lastModifiedBy>Jimenez Hernandez, Diego Emilio</cp:lastModifiedBy>
  <cp:revision>24</cp:revision>
  <cp:lastPrinted>2025-06-17T18:31:21Z</cp:lastPrinted>
  <dcterms:created xsi:type="dcterms:W3CDTF">2025-04-24T00:06:49Z</dcterms:created>
  <dcterms:modified xsi:type="dcterms:W3CDTF">2025-06-17T18:32:27Z</dcterms:modified>
</cp:coreProperties>
</file>