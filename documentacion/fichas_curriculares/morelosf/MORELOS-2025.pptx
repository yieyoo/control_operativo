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9144000" cy="6858000" type="letter"/>
  <p:notesSz cx="7023100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5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4362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2984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507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6904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4531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7754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66602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620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9812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734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2148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183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mailto:smartinez@inami.gob.m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497" r="2895" b="13027"/>
          <a:stretch/>
        </p:blipFill>
        <p:spPr>
          <a:xfrm>
            <a:off x="161880" y="6240634"/>
            <a:ext cx="8982119" cy="597622"/>
          </a:xfrm>
          <a:prstGeom prst="rect">
            <a:avLst/>
          </a:prstGeom>
        </p:spPr>
      </p:pic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177283" y="195769"/>
            <a:ext cx="2340630" cy="6466461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161881" y="2533572"/>
            <a:ext cx="2340630" cy="2331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Formación </a:t>
            </a:r>
          </a:p>
          <a:p>
            <a:pPr algn="ctr"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Académica</a:t>
            </a:r>
          </a:p>
          <a:p>
            <a:pPr>
              <a:lnSpc>
                <a:spcPct val="150000"/>
              </a:lnSpc>
              <a:defRPr/>
            </a:pPr>
            <a:endParaRPr lang="es-MX" sz="1000" dirty="0">
              <a:solidFill>
                <a:schemeClr val="bg1"/>
              </a:solidFill>
              <a:latin typeface="Montserrat" pitchFamily="2" charset="0"/>
            </a:endParaRP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ES" sz="1000" b="1" dirty="0">
                <a:solidFill>
                  <a:schemeClr val="bg1"/>
                </a:solidFill>
                <a:latin typeface="Montserrat" pitchFamily="2" charset="0"/>
              </a:rPr>
              <a:t>Maestría </a:t>
            </a:r>
            <a:r>
              <a:rPr lang="es-ES" sz="1000" dirty="0">
                <a:solidFill>
                  <a:schemeClr val="bg1"/>
                </a:solidFill>
                <a:latin typeface="Montserrat" pitchFamily="2" charset="0"/>
              </a:rPr>
              <a:t> en Seguridad Nacional.</a:t>
            </a:r>
          </a:p>
          <a:p>
            <a:pPr marL="128588" indent="-128588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Licenciatura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en  Derecho.</a:t>
            </a:r>
          </a:p>
          <a:p>
            <a:pPr marL="128588" indent="-128588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Licenciatura </a:t>
            </a:r>
            <a:r>
              <a:rPr lang="es-MX" sz="1000" dirty="0">
                <a:solidFill>
                  <a:schemeClr val="bg1"/>
                </a:solidFill>
                <a:latin typeface="Montserrat" pitchFamily="2" charset="0"/>
              </a:rPr>
              <a:t>en Ciencias de la Comunicación.</a:t>
            </a:r>
          </a:p>
          <a:p>
            <a:pPr>
              <a:lnSpc>
                <a:spcPct val="150000"/>
              </a:lnSpc>
            </a:pPr>
            <a:endParaRPr lang="es-MX" sz="900" b="1" dirty="0">
              <a:solidFill>
                <a:schemeClr val="bg1"/>
              </a:solidFill>
              <a:latin typeface="Montserrat" pitchFamily="2" charset="0"/>
            </a:endParaRPr>
          </a:p>
          <a:p>
            <a:pPr algn="ctr">
              <a:lnSpc>
                <a:spcPct val="150000"/>
              </a:lnSpc>
              <a:defRPr/>
            </a:pPr>
            <a:endParaRPr lang="es-MX" sz="9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186383" y="4764897"/>
            <a:ext cx="2325228" cy="191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</a:rPr>
              <a:t>Información de Contacto</a:t>
            </a:r>
          </a:p>
          <a:p>
            <a:pPr marL="128588" indent="-128588" algn="just">
              <a:lnSpc>
                <a:spcPct val="150000"/>
              </a:lnSpc>
              <a:buFont typeface="Wingdings 2" panose="05020102010507070707" pitchFamily="18" charset="2"/>
              <a:buChar char="(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Personal: </a:t>
            </a:r>
          </a:p>
          <a:p>
            <a:pPr algn="just">
              <a:lnSpc>
                <a:spcPct val="150000"/>
              </a:lnSpc>
            </a:pP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5561666669</a:t>
            </a:r>
          </a:p>
          <a:p>
            <a:pPr marL="128588" indent="-128588" algn="just">
              <a:lnSpc>
                <a:spcPct val="150000"/>
              </a:lnSpc>
              <a:buFont typeface="Wingdings" pitchFamily="2" charset="2"/>
              <a:buChar char="(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Trabajo:</a:t>
            </a:r>
          </a:p>
          <a:p>
            <a:pPr algn="just">
              <a:lnSpc>
                <a:spcPct val="150000"/>
              </a:lnSpc>
            </a:pPr>
            <a:r>
              <a:rPr lang="es-MX" sz="1000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777 315 7464 ext. 8460222</a:t>
            </a:r>
          </a:p>
          <a:p>
            <a:pPr marL="128588" indent="-128588" algn="just">
              <a:lnSpc>
                <a:spcPct val="150000"/>
              </a:lnSpc>
              <a:buFont typeface="Wingdings" pitchFamily="2" charset="2"/>
              <a:buChar char="*"/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Institucional: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chemeClr val="bg1"/>
                </a:solidFill>
                <a:latin typeface="Montserrat" pitchFamily="2" charset="0"/>
                <a:sym typeface="Wingding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smartinez@inami.gob.mx</a:t>
            </a:r>
            <a:endParaRPr lang="es-MX" sz="1000" b="1" dirty="0">
              <a:solidFill>
                <a:schemeClr val="bg1"/>
              </a:solidFill>
              <a:latin typeface="Montserrat" pitchFamily="2" charset="0"/>
              <a:sym typeface="Wingdings"/>
            </a:endParaRPr>
          </a:p>
          <a:p>
            <a:pPr>
              <a:lnSpc>
                <a:spcPct val="150000"/>
              </a:lnSpc>
              <a:defRPr/>
            </a:pPr>
            <a:endParaRPr lang="es-MX" sz="1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517913" y="801184"/>
            <a:ext cx="6616987" cy="5586016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MX" sz="1600" b="1" dirty="0">
                <a:solidFill>
                  <a:srgbClr val="DEC9A7"/>
                </a:solidFill>
                <a:latin typeface="Montserrat" pitchFamily="2" charset="0"/>
              </a:rPr>
              <a:t>TRAYECTORIA INM</a:t>
            </a:r>
          </a:p>
          <a:p>
            <a:pPr>
              <a:lnSpc>
                <a:spcPct val="150000"/>
              </a:lnSpc>
            </a:pPr>
            <a:endParaRPr lang="es-MX" sz="675" b="1" dirty="0">
              <a:solidFill>
                <a:srgbClr val="DEC9A7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Año de ingreso al INM: 2023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Morelos.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16/06/2025 - a la fecha: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Representación. 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Yucatán.</a:t>
            </a: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1/03/2025 – 15/06/2025: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Representación.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Hidalgo.</a:t>
            </a:r>
          </a:p>
          <a:p>
            <a:pPr marL="135731" indent="-135731"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16/05/2024 – 28/02/2025: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Titular de la Oficina de  Representación.</a:t>
            </a:r>
          </a:p>
          <a:p>
            <a:pPr marL="135731" indent="-135731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Oficina de Representación en el Estado de Quintana Roo.</a:t>
            </a:r>
          </a:p>
          <a:p>
            <a:pPr marL="135731" indent="-135731"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      01/02/2023 - 15/05/2024: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Sub Representante Federal en Playa del  Carmen.</a:t>
            </a:r>
            <a:endParaRPr lang="es-MX" sz="1000" b="1" dirty="0">
              <a:solidFill>
                <a:srgbClr val="660033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  <a:defRPr/>
            </a:pPr>
            <a:endParaRPr lang="es-MX" sz="750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  <a:defRPr/>
            </a:pPr>
            <a:r>
              <a:rPr lang="es-MX" sz="1600" b="1" dirty="0">
                <a:solidFill>
                  <a:srgbClr val="DEC9A7"/>
                </a:solidFill>
                <a:latin typeface="Montserrat" pitchFamily="2" charset="0"/>
              </a:rPr>
              <a:t>CARRERA PROFESIONAL</a:t>
            </a:r>
          </a:p>
          <a:p>
            <a:pPr algn="just">
              <a:lnSpc>
                <a:spcPct val="150000"/>
              </a:lnSpc>
              <a:defRPr/>
            </a:pPr>
            <a:endParaRPr lang="es-MX" sz="675" b="1" dirty="0">
              <a:solidFill>
                <a:srgbClr val="DEC9A7"/>
              </a:solidFill>
              <a:latin typeface="Montserrat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Cuenta con una trayectoria de más de 13 años en la Administración Pública, ocupando los siguientes cargos, entre otros: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Gobierno del Estado de Quintana Roo: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 de Giras del Ejecutivo Estatal en Zona Norte/Subdirector de Giras y Eventos;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Procuraduría General de la República: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Director de Coordinación Interinstitucional/Secretario Particular del Titular  de la Coordinación de Planeación, Desarrollo e Innovación Institucional;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Poder Judicial: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Subdirector de Políticas de Seguridad y Normativa/Subdirector de Control Logístico en Mecanismos de Seguridad;</a:t>
            </a:r>
          </a:p>
          <a:p>
            <a:pPr marL="128588" indent="-128588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s-MX" sz="1000" b="1" dirty="0">
                <a:solidFill>
                  <a:srgbClr val="660033"/>
                </a:solidFill>
                <a:latin typeface="Montserrat" pitchFamily="2" charset="0"/>
              </a:rPr>
              <a:t>Secretaría de Desarrollo Social: </a:t>
            </a: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Subdirector de Planeación Estratégica.</a:t>
            </a:r>
            <a:endParaRPr lang="es-MX" sz="1000" dirty="0">
              <a:solidFill>
                <a:srgbClr val="DEC9A7"/>
              </a:solidFill>
              <a:latin typeface="Montserrat" pitchFamily="2" charset="0"/>
            </a:endParaRPr>
          </a:p>
          <a:p>
            <a:pPr>
              <a:lnSpc>
                <a:spcPct val="150000"/>
              </a:lnSpc>
            </a:pPr>
            <a:endParaRPr lang="es-MX" sz="788" b="1" dirty="0">
              <a:solidFill>
                <a:srgbClr val="DEC9A7"/>
              </a:solidFill>
              <a:latin typeface="Montserrat" pitchFamily="2" charset="0"/>
            </a:endParaRP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4982817" y="13427"/>
            <a:ext cx="4152083" cy="619090"/>
          </a:xfrm>
          <a:prstGeom prst="rect">
            <a:avLst/>
          </a:prstGeom>
          <a:ln>
            <a:noFill/>
          </a:ln>
        </p:spPr>
      </p:pic>
      <p:pic>
        <p:nvPicPr>
          <p:cNvPr id="14" name="Picture 2" descr="W:\SDCO_Zona Sur\SUR\CV TITULARES DE LAS O R\SEMBLANZAS CURRICULARES TOR -JUNIO 2024\FOTOS\HIDALGO- SERGIO A MARTINEZ C. ARROYO.png">
            <a:extLst>
              <a:ext uri="{FF2B5EF4-FFF2-40B4-BE49-F238E27FC236}">
                <a16:creationId xmlns:a16="http://schemas.microsoft.com/office/drawing/2014/main" id="{A0774E83-EAFD-4855-AF71-5102F4363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838" y="721292"/>
            <a:ext cx="898192" cy="115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1E54A1A0-E84A-4F6C-BA15-780781F6A4B8}"/>
              </a:ext>
            </a:extLst>
          </p:cNvPr>
          <p:cNvSpPr/>
          <p:nvPr/>
        </p:nvSpPr>
        <p:spPr>
          <a:xfrm>
            <a:off x="213731" y="326646"/>
            <a:ext cx="2295082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400" b="1" dirty="0">
                <a:solidFill>
                  <a:schemeClr val="bg1"/>
                </a:solidFill>
                <a:latin typeface="Montserrat" pitchFamily="2" charset="0"/>
              </a:rPr>
              <a:t>  MORELOS</a:t>
            </a:r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3CB8732C-1B52-452F-8345-AFE159039EC3}"/>
              </a:ext>
            </a:extLst>
          </p:cNvPr>
          <p:cNvSpPr/>
          <p:nvPr/>
        </p:nvSpPr>
        <p:spPr>
          <a:xfrm>
            <a:off x="186383" y="1978097"/>
            <a:ext cx="2322430" cy="41549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ES" sz="1050" b="1" dirty="0">
                <a:solidFill>
                  <a:schemeClr val="bg1"/>
                </a:solidFill>
                <a:latin typeface="Montserrat" pitchFamily="2" charset="0"/>
              </a:rPr>
              <a:t>Mtro. Sergio A. Martínez C. Arroyo</a:t>
            </a:r>
            <a:endParaRPr lang="es-MX" sz="1050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252</Words>
  <Application>Microsoft Office PowerPoint</Application>
  <PresentationFormat>Carta (216 x 279 mm)</PresentationFormat>
  <Paragraphs>34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Montserrat</vt:lpstr>
      <vt:lpstr>Wingdings</vt:lpstr>
      <vt:lpstr>Wingdings 2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42</cp:revision>
  <cp:lastPrinted>2025-06-17T18:35:39Z</cp:lastPrinted>
  <dcterms:created xsi:type="dcterms:W3CDTF">2025-04-24T00:06:49Z</dcterms:created>
  <dcterms:modified xsi:type="dcterms:W3CDTF">2025-06-17T19:36:56Z</dcterms:modified>
</cp:coreProperties>
</file>