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6256000" cy="9144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200" d="100"/>
          <a:sy n="200" d="100"/>
        </p:scale>
        <p:origin x="144" y="-5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5356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2247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5511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8082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1034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444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735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647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021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14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125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750-BDA0-4B3C-9407-BAF21E562682}" type="datetimeFigureOut">
              <a:rPr lang="es-MX" smtClean="0"/>
              <a:t>04.09.2025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171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CE2FDB39-6F72-464D-8AB2-CD36D7E6D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11" r="5688" b="18303"/>
          <a:stretch/>
        </p:blipFill>
        <p:spPr>
          <a:xfrm>
            <a:off x="384224" y="8062768"/>
            <a:ext cx="15617775" cy="748490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D0722D44-FDBC-4129-AFBD-ABF5B06044DA}"/>
              </a:ext>
            </a:extLst>
          </p:cNvPr>
          <p:cNvGrpSpPr/>
          <p:nvPr/>
        </p:nvGrpSpPr>
        <p:grpSpPr>
          <a:xfrm>
            <a:off x="446412" y="261026"/>
            <a:ext cx="3439788" cy="8621948"/>
            <a:chOff x="440430" y="261026"/>
            <a:chExt cx="2381885" cy="862194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0120CE6-BCC7-4F9B-8F8B-947245FEDD2E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261026"/>
              <a:ext cx="2381885" cy="4332212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D408511-F0FC-4365-AA24-3F55CAC94ED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4550762"/>
              <a:ext cx="2381885" cy="4332212"/>
            </a:xfrm>
            <a:prstGeom prst="rect">
              <a:avLst/>
            </a:prstGeom>
          </p:spPr>
        </p:pic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C4B574-C21F-433D-9C03-EC1981764D48}"/>
              </a:ext>
            </a:extLst>
          </p:cNvPr>
          <p:cNvSpPr txBox="1"/>
          <p:nvPr/>
        </p:nvSpPr>
        <p:spPr>
          <a:xfrm>
            <a:off x="465492" y="6067853"/>
            <a:ext cx="3401627" cy="2964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532">
              <a:lnSpc>
                <a:spcPct val="150000"/>
              </a:lnSpc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Información de</a:t>
            </a:r>
          </a:p>
          <a:p>
            <a:pPr algn="ctr" defTabSz="914532">
              <a:lnSpc>
                <a:spcPct val="150000"/>
              </a:lnSpc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Contacto</a:t>
            </a:r>
          </a:p>
          <a:p>
            <a:pPr marL="171475" indent="-171475" algn="just">
              <a:lnSpc>
                <a:spcPct val="150000"/>
              </a:lnSpc>
              <a:buFont typeface="Wingdings 2"/>
              <a:buChar char="("/>
            </a:pPr>
            <a:r>
              <a:rPr lang="es-MX" sz="14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Personal:</a:t>
            </a:r>
          </a:p>
          <a:p>
            <a:pPr algn="just">
              <a:lnSpc>
                <a:spcPct val="150000"/>
              </a:lnSpc>
            </a:pPr>
            <a:r>
              <a:rPr lang="es-MX" sz="14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(9932) 346139</a:t>
            </a:r>
          </a:p>
          <a:p>
            <a:pPr marL="171475" indent="-171475" algn="just">
              <a:lnSpc>
                <a:spcPct val="150000"/>
              </a:lnSpc>
              <a:buFont typeface="Wingdings" pitchFamily="2" charset="2"/>
              <a:buChar char="("/>
            </a:pPr>
            <a:r>
              <a:rPr lang="es-MX" sz="14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Trabajo:</a:t>
            </a:r>
          </a:p>
          <a:p>
            <a:pPr algn="just">
              <a:lnSpc>
                <a:spcPct val="150000"/>
              </a:lnSpc>
            </a:pPr>
            <a:r>
              <a:rPr lang="es-MX" sz="14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9933136105  ext.8600218</a:t>
            </a:r>
          </a:p>
          <a:p>
            <a:pPr marL="171475" indent="-171475" algn="just">
              <a:lnSpc>
                <a:spcPct val="150000"/>
              </a:lnSpc>
              <a:buFont typeface="Wingdings" pitchFamily="2" charset="2"/>
              <a:buChar char="*"/>
            </a:pPr>
            <a:r>
              <a:rPr lang="es-MX" sz="14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Institucional</a:t>
            </a:r>
          </a:p>
          <a:p>
            <a:pPr algn="just" defTabSz="914532">
              <a:lnSpc>
                <a:spcPct val="150000"/>
              </a:lnSpc>
              <a:defRPr/>
            </a:pPr>
            <a:r>
              <a:rPr lang="es-MX" sz="1400" u="sng" dirty="0">
                <a:solidFill>
                  <a:schemeClr val="bg1"/>
                </a:solidFill>
                <a:latin typeface="Montserrat" panose="00000500000000000000" pitchFamily="2" charset="0"/>
              </a:rPr>
              <a:t>apolicroniades@inami.gob.mx</a:t>
            </a:r>
            <a:endParaRPr lang="es-MX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b="1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</p:txBody>
      </p:sp>
      <p:pic>
        <p:nvPicPr>
          <p:cNvPr id="21" name="0 Imagen">
            <a:extLst>
              <a:ext uri="{FF2B5EF4-FFF2-40B4-BE49-F238E27FC236}">
                <a16:creationId xmlns:a16="http://schemas.microsoft.com/office/drawing/2014/main" id="{4482D245-332C-4A06-9EC6-A0156C6C73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39266"/>
          <a:stretch/>
        </p:blipFill>
        <p:spPr>
          <a:xfrm>
            <a:off x="9282189" y="123950"/>
            <a:ext cx="6973811" cy="1039820"/>
          </a:xfrm>
          <a:prstGeom prst="rect">
            <a:avLst/>
          </a:prstGeom>
          <a:ln>
            <a:noFill/>
          </a:ln>
        </p:spPr>
      </p:pic>
      <p:sp>
        <p:nvSpPr>
          <p:cNvPr id="15" name="8 Rectángulo">
            <a:extLst>
              <a:ext uri="{FF2B5EF4-FFF2-40B4-BE49-F238E27FC236}">
                <a16:creationId xmlns:a16="http://schemas.microsoft.com/office/drawing/2014/main" id="{E9391FF8-0EFF-4D95-8890-41D8E5242B1F}"/>
              </a:ext>
            </a:extLst>
          </p:cNvPr>
          <p:cNvSpPr/>
          <p:nvPr/>
        </p:nvSpPr>
        <p:spPr>
          <a:xfrm>
            <a:off x="431532" y="413815"/>
            <a:ext cx="3439788" cy="83099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ENCARGADA DE LA OFICINA DE REPRESENTACIÓN EN TABASCO</a:t>
            </a:r>
            <a:endParaRPr lang="es-MX" sz="16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10 Rectángulo">
            <a:extLst>
              <a:ext uri="{FF2B5EF4-FFF2-40B4-BE49-F238E27FC236}">
                <a16:creationId xmlns:a16="http://schemas.microsoft.com/office/drawing/2014/main" id="{4DCD76EE-230F-4E18-A696-ACE63716ABE4}"/>
              </a:ext>
            </a:extLst>
          </p:cNvPr>
          <p:cNvSpPr/>
          <p:nvPr/>
        </p:nvSpPr>
        <p:spPr>
          <a:xfrm>
            <a:off x="446412" y="3145179"/>
            <a:ext cx="3424908" cy="101566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Beatriz Adriana </a:t>
            </a:r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Policroniades</a:t>
            </a:r>
            <a:endParaRPr lang="es-MX" sz="2000" b="1" dirty="0">
              <a:solidFill>
                <a:schemeClr val="bg1"/>
              </a:solidFill>
              <a:latin typeface="Montserrat" pitchFamily="2" charset="0"/>
            </a:endParaRPr>
          </a:p>
          <a:p>
            <a:pPr algn="ctr"/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Jiménez</a:t>
            </a:r>
            <a:endParaRPr lang="es-MX" sz="20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599F2A-4D76-47FC-9D27-516CC1831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255" y="1537861"/>
            <a:ext cx="1246342" cy="151992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CE08FC7-3B3A-49D3-A133-0AFAA53194CD}"/>
              </a:ext>
            </a:extLst>
          </p:cNvPr>
          <p:cNvSpPr txBox="1"/>
          <p:nvPr/>
        </p:nvSpPr>
        <p:spPr>
          <a:xfrm>
            <a:off x="509750" y="4273874"/>
            <a:ext cx="3420708" cy="1832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Formación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 Académica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Licenciatura </a:t>
            </a: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en Derecho </a:t>
            </a:r>
            <a:r>
              <a:rPr kumimoji="0" lang="es-MX" sz="1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y Litigación </a:t>
            </a:r>
            <a:r>
              <a:rPr kumimoji="0" lang="es-MX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Estratégica (Pasante).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5B6F225-C84F-4594-AF10-74629E761127}"/>
              </a:ext>
            </a:extLst>
          </p:cNvPr>
          <p:cNvSpPr txBox="1"/>
          <p:nvPr/>
        </p:nvSpPr>
        <p:spPr>
          <a:xfrm>
            <a:off x="3903000" y="1340638"/>
            <a:ext cx="12281284" cy="6144631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s-MX" sz="3200" b="1" dirty="0">
                <a:solidFill>
                  <a:srgbClr val="DEC9A7"/>
                </a:solidFill>
                <a:effectLst/>
                <a:latin typeface="Montserrat" pitchFamily="2" charset="0"/>
              </a:rPr>
              <a:t>TRAYECTORIA INM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s-MX" sz="800" b="1" dirty="0">
              <a:solidFill>
                <a:srgbClr val="DEC9A7"/>
              </a:solidFill>
              <a:effectLst/>
              <a:latin typeface="Montserrat" pitchFamily="2" charset="0"/>
            </a:endParaRPr>
          </a:p>
          <a:p>
            <a:pPr marL="0" marR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600" b="1" kern="1200" baseline="0" dirty="0">
                <a:solidFill>
                  <a:srgbClr val="660033"/>
                </a:solidFill>
                <a:effectLst/>
                <a:latin typeface="Montserrat" pitchFamily="2" charset="0"/>
                <a:ea typeface="+mn-ea"/>
                <a:cs typeface="+mn-cs"/>
              </a:rPr>
              <a:t>Año de ingreso al INM: 2007</a:t>
            </a:r>
          </a:p>
          <a:p>
            <a:pPr marL="0" marR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Cuenta con una trayectoria de más de 18 años laborando en el Instituto Nacional de Migración.</a:t>
            </a:r>
          </a:p>
          <a:p>
            <a:pPr marL="0" marR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1600" b="1" kern="1200" baseline="0" dirty="0">
              <a:solidFill>
                <a:srgbClr val="660033"/>
              </a:solidFill>
              <a:effectLst/>
              <a:latin typeface="Montserrat" pitchFamily="2" charset="0"/>
              <a:ea typeface="+mn-ea"/>
              <a:cs typeface="+mn-cs"/>
            </a:endParaRP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Oficina de Representación en el Estado de  Tabasco</a:t>
            </a:r>
          </a:p>
          <a:p>
            <a:pPr lvl="1" algn="just">
              <a:lnSpc>
                <a:spcPct val="150000"/>
              </a:lnSpc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01/09/2025 - a la fecha: 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Encargada </a:t>
            </a:r>
            <a:r>
              <a:rPr lang="es-MX" sz="16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de la Oficina de  Representación.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01/06/2022 – a la fecha: </a:t>
            </a:r>
            <a:r>
              <a:rPr lang="es-MX" sz="16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Subdirectora de la Estación Migratoria en Villahermosa.</a:t>
            </a:r>
          </a:p>
          <a:p>
            <a:pPr lvl="1" algn="just">
              <a:lnSpc>
                <a:spcPct val="150000"/>
              </a:lnSpc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01/11/2017 – 24/05/2018: 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Sub Representante Local con Adscripción al Departamento de Verificación Migratoria.</a:t>
            </a:r>
          </a:p>
          <a:p>
            <a:pPr lvl="1" algn="just">
              <a:lnSpc>
                <a:spcPct val="150000"/>
              </a:lnSpc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06/03/2017 – </a:t>
            </a:r>
            <a:r>
              <a:rPr lang="es-MX" sz="1600" b="1" dirty="0">
                <a:solidFill>
                  <a:srgbClr val="660033"/>
                </a:solidFill>
                <a:latin typeface="Montserrat" pitchFamily="2" charset="0"/>
              </a:rPr>
              <a:t>30</a:t>
            </a: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/10/2017: 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Sub Representante Local con Adscripción a la Estación Migratoria en Villahermosa.</a:t>
            </a:r>
          </a:p>
          <a:p>
            <a:pPr lvl="1" algn="just">
              <a:lnSpc>
                <a:spcPct val="150000"/>
              </a:lnSpc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01/02/2016 – 05/03/2017: 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Sub Representante Local con Adscripción a Paraíso.</a:t>
            </a:r>
          </a:p>
          <a:p>
            <a:pPr lvl="1" algn="just">
              <a:lnSpc>
                <a:spcPct val="150000"/>
              </a:lnSpc>
            </a:pPr>
            <a:r>
              <a:rPr lang="es-MX" sz="1600" b="1" dirty="0">
                <a:solidFill>
                  <a:srgbClr val="660033"/>
                </a:solidFill>
                <a:latin typeface="Montserrat" pitchFamily="2" charset="0"/>
              </a:rPr>
              <a:t>01/06/2015 – 31/01/2016:</a:t>
            </a: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Sub Representante Local con Adscripción al Aeropuerto Internacional de Villahermosa.</a:t>
            </a:r>
          </a:p>
          <a:p>
            <a:pPr lvl="1" algn="just">
              <a:lnSpc>
                <a:spcPct val="150000"/>
              </a:lnSpc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16/11/2014 – 31/05/2015: 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Sub Representante Local con Adscripción en el Ceibo.</a:t>
            </a:r>
          </a:p>
          <a:p>
            <a:pPr lvl="1" algn="just">
              <a:lnSpc>
                <a:spcPct val="150000"/>
              </a:lnSpc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01/05/2012 – 15/11/2014: </a:t>
            </a:r>
            <a:r>
              <a:rPr lang="es-MX" sz="16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Jefa de Departamento 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de </a:t>
            </a:r>
            <a:r>
              <a:rPr lang="es-MX" sz="16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Regulación 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M</a:t>
            </a:r>
            <a:r>
              <a:rPr lang="es-MX" sz="16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igratoria.</a:t>
            </a:r>
          </a:p>
          <a:p>
            <a:pPr lvl="1" algn="just">
              <a:lnSpc>
                <a:spcPct val="150000"/>
              </a:lnSpc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01/11/2008 – 30/04/2012: </a:t>
            </a:r>
            <a:r>
              <a:rPr lang="es-MX" sz="16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Coordinador de 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U</a:t>
            </a:r>
            <a:r>
              <a:rPr lang="es-MX" sz="16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nidad 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en Áreas de Servicios Migratorios.</a:t>
            </a:r>
          </a:p>
          <a:p>
            <a:pPr lvl="1" algn="just">
              <a:lnSpc>
                <a:spcPct val="150000"/>
              </a:lnSpc>
            </a:pPr>
            <a:r>
              <a:rPr lang="es-MX" sz="16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16/02/2007- 31/10/2008: </a:t>
            </a:r>
            <a:r>
              <a:rPr lang="es-MX" sz="16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Agente Federal de Migración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 </a:t>
            </a:r>
            <a:r>
              <a:rPr lang="es-MX" sz="16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“B”</a:t>
            </a:r>
            <a:r>
              <a:rPr lang="es-MX" sz="1600" dirty="0">
                <a:solidFill>
                  <a:srgbClr val="660033"/>
                </a:solidFill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5610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215</Words>
  <Application>Microsoft Office PowerPoint</Application>
  <PresentationFormat>Personalizado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Montserrat</vt:lpstr>
      <vt:lpstr>Wingdings</vt:lpstr>
      <vt:lpstr>Wingdings 2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Jimenez Hernandez, Diego Emilio</dc:creator>
  <cp:lastModifiedBy>Jimenez Hernandez, Diego Emilio</cp:lastModifiedBy>
  <cp:revision>43</cp:revision>
  <cp:lastPrinted>2025-09-03T01:04:37Z</cp:lastPrinted>
  <dcterms:created xsi:type="dcterms:W3CDTF">2025-04-24T00:06:49Z</dcterms:created>
  <dcterms:modified xsi:type="dcterms:W3CDTF">2025-09-04T16:28:38Z</dcterms:modified>
</cp:coreProperties>
</file>