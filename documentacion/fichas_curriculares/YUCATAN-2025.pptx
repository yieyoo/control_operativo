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144000" cy="6858000" type="letter"/>
  <p:notesSz cx="9309100" cy="7023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262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018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3147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887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358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113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673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025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066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435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606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04.07.2025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803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smartinez@inami.gob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CE2FDB39-6F72-464D-8AB2-CD36D7E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26" b="5321"/>
          <a:stretch/>
        </p:blipFill>
        <p:spPr>
          <a:xfrm>
            <a:off x="194185" y="6268631"/>
            <a:ext cx="8949816" cy="489245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197201" y="195769"/>
            <a:ext cx="2241200" cy="6466461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39B6A8-850A-41A7-BC05-141D0CCF0BCC}"/>
              </a:ext>
            </a:extLst>
          </p:cNvPr>
          <p:cNvSpPr txBox="1"/>
          <p:nvPr/>
        </p:nvSpPr>
        <p:spPr>
          <a:xfrm>
            <a:off x="218688" y="2867903"/>
            <a:ext cx="2219714" cy="2039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  <a:defRPr/>
            </a:pPr>
            <a:r>
              <a:rPr lang="es-MX" sz="1050" b="1" dirty="0">
                <a:solidFill>
                  <a:schemeClr val="bg1"/>
                </a:solidFill>
                <a:latin typeface="Montserrat" pitchFamily="2" charset="0"/>
              </a:rPr>
              <a:t>Formación </a:t>
            </a:r>
          </a:p>
          <a:p>
            <a:pPr algn="ctr" defTabSz="685800">
              <a:lnSpc>
                <a:spcPct val="150000"/>
              </a:lnSpc>
              <a:defRPr/>
            </a:pPr>
            <a:r>
              <a:rPr lang="es-MX" sz="1050" b="1" dirty="0">
                <a:solidFill>
                  <a:schemeClr val="bg1"/>
                </a:solidFill>
                <a:latin typeface="Montserrat" pitchFamily="2" charset="0"/>
              </a:rPr>
              <a:t>Académica</a:t>
            </a:r>
          </a:p>
          <a:p>
            <a:pPr algn="ctr" defTabSz="685800">
              <a:lnSpc>
                <a:spcPct val="150000"/>
              </a:lnSpc>
              <a:defRPr/>
            </a:pPr>
            <a:endParaRPr lang="es-ES" sz="1050" b="1" dirty="0">
              <a:solidFill>
                <a:schemeClr val="bg1"/>
              </a:solidFill>
              <a:latin typeface="Montserrat" pitchFamily="2" charset="0"/>
            </a:endParaRP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Doctorado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</a:rPr>
              <a:t> en Derecho Judicial.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s-MX" sz="800" b="1" dirty="0">
              <a:solidFill>
                <a:schemeClr val="bg1"/>
              </a:solidFill>
              <a:latin typeface="Montserrat" pitchFamily="2" charset="0"/>
            </a:endParaRP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Maestría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</a:rPr>
              <a:t> en Ciencias Penales.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s-MX" sz="600" b="1" dirty="0">
              <a:solidFill>
                <a:schemeClr val="bg1"/>
              </a:solidFill>
              <a:latin typeface="Montserrat" pitchFamily="2" charset="0"/>
            </a:endParaRPr>
          </a:p>
          <a:p>
            <a:pPr marL="128588" indent="-128588" defTabSz="6858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Licenciatura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</a:rPr>
              <a:t>en  Derecho.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218687" y="5091011"/>
            <a:ext cx="2219714" cy="1462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defRPr/>
            </a:pPr>
            <a:r>
              <a:rPr lang="es-MX" sz="1050" b="1" dirty="0">
                <a:solidFill>
                  <a:schemeClr val="bg1"/>
                </a:solidFill>
                <a:latin typeface="Montserrat" pitchFamily="2" charset="0"/>
              </a:rPr>
              <a:t>Información de Contacto</a:t>
            </a:r>
            <a:endParaRPr lang="es-MX" sz="1050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  <a:p>
            <a:pPr marL="128588" indent="-128588" algn="just">
              <a:lnSpc>
                <a:spcPct val="150000"/>
              </a:lnSpc>
              <a:buFont typeface="Wingdings" pitchFamily="2" charset="2"/>
              <a:buChar char="("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Trabajo:</a:t>
            </a:r>
          </a:p>
          <a:p>
            <a:pPr algn="just">
              <a:lnSpc>
                <a:spcPct val="150000"/>
              </a:lnSpc>
            </a:pP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999 925 6388 ext. 8670201 </a:t>
            </a: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Institucional: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lesperon@inami.gob.mx</a:t>
            </a:r>
            <a:endParaRPr lang="es-MX" sz="1000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  <a:p>
            <a:pPr defTabSz="685800">
              <a:lnSpc>
                <a:spcPct val="150000"/>
              </a:lnSpc>
              <a:defRPr/>
            </a:pPr>
            <a:endParaRPr lang="es-MX" sz="105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3AE3FB-BBBB-4780-BEA0-348ED633AEF9}"/>
              </a:ext>
            </a:extLst>
          </p:cNvPr>
          <p:cNvSpPr txBox="1"/>
          <p:nvPr/>
        </p:nvSpPr>
        <p:spPr>
          <a:xfrm>
            <a:off x="2438401" y="414542"/>
            <a:ext cx="6705598" cy="6592574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>
                <a:solidFill>
                  <a:srgbClr val="DEC9A7"/>
                </a:solidFill>
                <a:latin typeface="Montserrat" pitchFamily="2" charset="0"/>
              </a:rPr>
              <a:t>TRAYECTORIA INM</a:t>
            </a:r>
          </a:p>
          <a:p>
            <a:pPr algn="just">
              <a:lnSpc>
                <a:spcPct val="150000"/>
              </a:lnSpc>
            </a:pPr>
            <a:endParaRPr lang="es-MX" sz="400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 defTabSz="685800">
              <a:lnSpc>
                <a:spcPct val="150000"/>
              </a:lnSpc>
              <a:defRPr/>
            </a:pPr>
            <a:r>
              <a:rPr lang="es-MX" sz="1050" b="1" dirty="0">
                <a:solidFill>
                  <a:srgbClr val="660033"/>
                </a:solidFill>
                <a:latin typeface="Montserrat" pitchFamily="2" charset="0"/>
              </a:rPr>
              <a:t>Año de ingreso al INM: 2025</a:t>
            </a:r>
            <a:endParaRPr lang="es-MX" sz="1200" b="1" dirty="0">
              <a:solidFill>
                <a:srgbClr val="DEC9A7"/>
              </a:solidFill>
              <a:latin typeface="Montserrat" pitchFamily="2" charset="0"/>
            </a:endParaRP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5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Yucatán</a:t>
            </a:r>
          </a:p>
          <a:p>
            <a:pPr algn="just">
              <a:lnSpc>
                <a:spcPct val="150000"/>
              </a:lnSpc>
            </a:pPr>
            <a:r>
              <a:rPr lang="es-MX" sz="1050" b="1" dirty="0">
                <a:solidFill>
                  <a:srgbClr val="660033"/>
                </a:solidFill>
                <a:latin typeface="Montserrat" pitchFamily="2" charset="0"/>
              </a:rPr>
              <a:t>     16/06/2025 - a la fecha: </a:t>
            </a:r>
            <a:r>
              <a:rPr lang="es-MX" sz="1050" dirty="0">
                <a:solidFill>
                  <a:srgbClr val="660033"/>
                </a:solidFill>
                <a:latin typeface="Montserrat" pitchFamily="2" charset="0"/>
              </a:rPr>
              <a:t>Titular de la Oficina de Representación.</a:t>
            </a:r>
          </a:p>
          <a:p>
            <a:pPr algn="just">
              <a:lnSpc>
                <a:spcPct val="150000"/>
              </a:lnSpc>
            </a:pPr>
            <a:endParaRPr lang="es-MX" sz="100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 defTabSz="685800">
              <a:lnSpc>
                <a:spcPct val="150000"/>
              </a:lnSpc>
              <a:defRPr/>
            </a:pPr>
            <a:r>
              <a:rPr lang="es-MX" sz="2000" b="1" dirty="0">
                <a:solidFill>
                  <a:srgbClr val="DEC9A7"/>
                </a:solidFill>
                <a:latin typeface="Montserrat" pitchFamily="2" charset="0"/>
              </a:rPr>
              <a:t>CARRERA PROFESIONAL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Cuenta con una trayectoria de más de 30 años en la Administración Pública, ocupando los siguientes cargos, entre otros: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s-MX" sz="700" b="1" dirty="0">
              <a:solidFill>
                <a:srgbClr val="660033"/>
              </a:solidFill>
              <a:latin typeface="Montserrat" pitchFamily="2" charset="0"/>
            </a:endParaRP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Procuraduría General de Justicia en el Estado de Yucatán: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Auxiliar Investigador.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Juzgado Séptimo de la Defensa Social en el Estado de Yucatán: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Agente del Ministerio Público.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Juzgado Sexto de la Defensa Social en el Estado de Yucatán: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Agente del Ministerio Público.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Procuraduría General de Justicia en el Estado de Yucatán  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Jefe de Departamento Jurídico de la Policía Judicial del Estado.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</a:t>
            </a: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Ministerio Público en el Estado de Yucatán: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Jefe de Departamento y Coordinador de Agentes.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Procuraduría General de Justicia en el Estado de Yucatán: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Director de Control de Procesos.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Tribunal Superior de Justicia en el Estado de Yucatán: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Magistrado Primero de la Sala Especializada en Justicia para Adolescentes.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Tribunal Superior de Justicia en el Estado de Yucatán: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Presidente de la Sala Especializada en Justicia para Adolescentes.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Tribunal Superior de Justicia en el Estado de Yucatán: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Magistrado Segundo y Magistrado de la Primera Sala Colegiada del Sistema de Justicia Penal y Acusatorio de Ejecución de Sanciones y Medidas de Seguridad.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Comisión Nacional de Tribunales Superiores de Justicia de los Estados Unidos Mexicanos: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Secretario Técnico.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s-MX" sz="800" dirty="0">
              <a:solidFill>
                <a:srgbClr val="660033"/>
              </a:solidFill>
              <a:latin typeface="Montserrat" pitchFamily="2" charset="0"/>
            </a:endParaRP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s-MX" sz="800" dirty="0">
              <a:solidFill>
                <a:srgbClr val="660033"/>
              </a:solidFill>
              <a:latin typeface="Montserrat" pitchFamily="2" charset="0"/>
            </a:endParaRP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5446643" y="19964"/>
            <a:ext cx="3697357" cy="551289"/>
          </a:xfrm>
          <a:prstGeom prst="rect">
            <a:avLst/>
          </a:prstGeom>
          <a:ln>
            <a:noFill/>
          </a:ln>
        </p:spPr>
      </p:pic>
      <p:sp>
        <p:nvSpPr>
          <p:cNvPr id="15" name="8 Rectángulo">
            <a:extLst>
              <a:ext uri="{FF2B5EF4-FFF2-40B4-BE49-F238E27FC236}">
                <a16:creationId xmlns:a16="http://schemas.microsoft.com/office/drawing/2014/main" id="{1E54A1A0-E84A-4F6C-BA15-780781F6A4B8}"/>
              </a:ext>
            </a:extLst>
          </p:cNvPr>
          <p:cNvSpPr/>
          <p:nvPr/>
        </p:nvSpPr>
        <p:spPr>
          <a:xfrm>
            <a:off x="682232" y="404702"/>
            <a:ext cx="1391290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Montserrat" pitchFamily="2" charset="0"/>
              </a:rPr>
              <a:t>YUCATÁN</a:t>
            </a:r>
            <a:endParaRPr lang="es-MX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10 Rectángulo">
            <a:extLst>
              <a:ext uri="{FF2B5EF4-FFF2-40B4-BE49-F238E27FC236}">
                <a16:creationId xmlns:a16="http://schemas.microsoft.com/office/drawing/2014/main" id="{3CB8732C-1B52-452F-8345-AFE159039EC3}"/>
              </a:ext>
            </a:extLst>
          </p:cNvPr>
          <p:cNvSpPr/>
          <p:nvPr/>
        </p:nvSpPr>
        <p:spPr>
          <a:xfrm>
            <a:off x="218688" y="2103291"/>
            <a:ext cx="2219714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Luis Felipe Esperón Villanueva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FBE5D12-B077-468D-AC1D-A6F06EFA36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872" y="827869"/>
            <a:ext cx="872498" cy="120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</TotalTime>
  <Words>290</Words>
  <Application>Microsoft Office PowerPoint</Application>
  <PresentationFormat>Carta (216 x 279 mm)</PresentationFormat>
  <Paragraphs>33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Wingdings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Jimenez Hernandez, Diego Emilio</cp:lastModifiedBy>
  <cp:revision>47</cp:revision>
  <cp:lastPrinted>2025-07-04T18:12:31Z</cp:lastPrinted>
  <dcterms:created xsi:type="dcterms:W3CDTF">2025-04-24T00:06:49Z</dcterms:created>
  <dcterms:modified xsi:type="dcterms:W3CDTF">2025-07-04T18:32:40Z</dcterms:modified>
</cp:coreProperties>
</file>